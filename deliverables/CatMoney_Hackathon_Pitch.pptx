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10D"/>
        </a:solidFill>
        <a:effectLst/>
      </p:bgPr>
    </p:bg>
    <p:spTree>
      <p:nvGrpSpPr>
        <p:cNvPr id="1" name=""/>
        <p:cNvGrpSpPr/>
        <p:nvPr/>
      </p:nvGrpSpPr>
      <p:grpSpPr/>
      <p:pic>
        <p:nvPicPr>
          <p:cNvPr id="2" name="Picture 1" descr="money_bg.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711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411480"/>
            <a:ext cx="6720840" cy="5852160"/>
          </a:xfrm>
          <a:prstGeom prst="roundRect">
            <a:avLst/>
          </a:prstGeom>
          <a:solidFill>
            <a:srgbClr val="091510"/>
          </a:solidFill>
          <a:ln>
            <a:solidFill>
              <a:srgbClr val="345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1.jpeg"/>
          <p:cNvPicPr>
            <a:picLocks noChangeAspect="1"/>
          </p:cNvPicPr>
          <p:nvPr/>
        </p:nvPicPr>
        <p:blipFill>
          <a:blip r:embed="rId3"/>
          <a:stretch>
            <a:fillRect/>
          </a:stretch>
        </p:blipFill>
        <p:spPr>
          <a:xfrm>
            <a:off x="822960" y="749808"/>
            <a:ext cx="786384" cy="786384"/>
          </a:xfrm>
          <a:prstGeom prst="rect">
            <a:avLst/>
          </a:prstGeom>
        </p:spPr>
      </p:pic>
      <p:sp>
        <p:nvSpPr>
          <p:cNvPr id="6" name="TextBox 5"/>
          <p:cNvSpPr txBox="1"/>
          <p:nvPr/>
        </p:nvSpPr>
        <p:spPr>
          <a:xfrm>
            <a:off x="1700784" y="841248"/>
            <a:ext cx="2560320" cy="320040"/>
          </a:xfrm>
          <a:prstGeom prst="rect">
            <a:avLst/>
          </a:prstGeom>
          <a:noFill/>
        </p:spPr>
        <p:txBody>
          <a:bodyPr wrap="none">
            <a:spAutoFit/>
          </a:bodyPr>
          <a:lstStyle/>
          <a:p>
            <a:pPr algn="l"/>
            <a:r>
              <a:rPr sz="1000" b="1">
                <a:solidFill>
                  <a:srgbClr val="B8FF76"/>
                </a:solidFill>
                <a:latin typeface="Aptos"/>
              </a:rPr>
              <a:t>MEM-BRAIN HACKATHON DECK</a:t>
            </a:r>
          </a:p>
        </p:txBody>
      </p:sp>
      <p:sp>
        <p:nvSpPr>
          <p:cNvPr id="7" name="TextBox 6"/>
          <p:cNvSpPr txBox="1"/>
          <p:nvPr/>
        </p:nvSpPr>
        <p:spPr>
          <a:xfrm>
            <a:off x="1700784" y="1078992"/>
            <a:ext cx="3108960" cy="502920"/>
          </a:xfrm>
          <a:prstGeom prst="rect">
            <a:avLst/>
          </a:prstGeom>
          <a:noFill/>
        </p:spPr>
        <p:txBody>
          <a:bodyPr wrap="none">
            <a:spAutoFit/>
          </a:bodyPr>
          <a:lstStyle/>
          <a:p>
            <a:r>
              <a:rPr sz="2400" b="1">
                <a:solidFill>
                  <a:srgbClr val="FFFFFF"/>
                </a:solidFill>
                <a:latin typeface="Aptos Display"/>
              </a:rPr>
              <a:t>CatMoney</a:t>
            </a:r>
          </a:p>
        </p:txBody>
      </p:sp>
      <p:sp>
        <p:nvSpPr>
          <p:cNvPr id="8" name="TextBox 7"/>
          <p:cNvSpPr txBox="1"/>
          <p:nvPr/>
        </p:nvSpPr>
        <p:spPr>
          <a:xfrm>
            <a:off x="896112" y="1783080"/>
            <a:ext cx="5669280" cy="2103120"/>
          </a:xfrm>
          <a:prstGeom prst="rect">
            <a:avLst/>
          </a:prstGeom>
          <a:noFill/>
        </p:spPr>
        <p:txBody>
          <a:bodyPr wrap="none">
            <a:spAutoFit/>
          </a:bodyPr>
          <a:lstStyle/>
          <a:p>
            <a:r>
              <a:rPr sz="3000" b="1">
                <a:solidFill>
                  <a:srgbClr val="F4F6F0"/>
                </a:solidFill>
                <a:latin typeface="Aptos Display"/>
              </a:rPr>
              <a:t>Memory-driven finance that explains behavior, not just balances.</a:t>
            </a:r>
          </a:p>
          <a:p>
            <a:pPr>
              <a:spcBef>
                <a:spcPts val="1400"/>
              </a:spcBef>
            </a:pPr>
            <a:r>
              <a:rPr sz="1300">
                <a:solidFill>
                  <a:srgbClr val="C4D2C7"/>
                </a:solidFill>
                <a:latin typeface="Aptos"/>
              </a:rPr>
              <a:t>CatMoney turns fragmented SMS and transaction data into a living financial memory graph. It helps users understand overspending, see connected patterns, and recover savings goals with Mem-Brain at the core.</a:t>
            </a:r>
          </a:p>
        </p:txBody>
      </p:sp>
      <p:sp>
        <p:nvSpPr>
          <p:cNvPr id="9" name="Rounded Rectangle 8"/>
          <p:cNvSpPr/>
          <p:nvPr/>
        </p:nvSpPr>
        <p:spPr>
          <a:xfrm>
            <a:off x="896112" y="4800600"/>
            <a:ext cx="1280160" cy="731520"/>
          </a:xfrm>
          <a:prstGeom prst="roundRect">
            <a:avLst/>
          </a:prstGeom>
          <a:solidFill>
            <a:srgbClr val="0F1D16"/>
          </a:solidFill>
          <a:ln>
            <a:solidFill>
              <a:srgbClr val="8D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96112" y="4800600"/>
            <a:ext cx="73152" cy="731520"/>
          </a:xfrm>
          <a:prstGeom prst="roundRect">
            <a:avLst/>
          </a:prstGeom>
          <a:solidFill>
            <a:srgbClr val="8D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4965192"/>
            <a:ext cx="1005839" cy="502920"/>
          </a:xfrm>
          <a:prstGeom prst="rect">
            <a:avLst/>
          </a:prstGeom>
          <a:noFill/>
        </p:spPr>
        <p:txBody>
          <a:bodyPr wrap="square">
            <a:spAutoFit/>
          </a:bodyPr>
          <a:lstStyle/>
          <a:p>
            <a:r>
              <a:rPr sz="1600" b="1">
                <a:solidFill>
                  <a:srgbClr val="F4F6F0"/>
                </a:solidFill>
                <a:latin typeface="Aptos Display"/>
              </a:rPr>
              <a:t>Memory Graph</a:t>
            </a:r>
          </a:p>
          <a:p>
            <a:pPr>
              <a:lnSpc>
                <a:spcPct val="115000"/>
              </a:lnSpc>
              <a:spcBef>
                <a:spcPts val="600"/>
              </a:spcBef>
            </a:pPr>
            <a:r>
              <a:rPr sz="1150">
                <a:solidFill>
                  <a:srgbClr val="C4D2C7"/>
                </a:solidFill>
                <a:latin typeface="Aptos"/>
              </a:rPr>
              <a:t/>
            </a:r>
          </a:p>
        </p:txBody>
      </p:sp>
      <p:sp>
        <p:nvSpPr>
          <p:cNvPr id="12" name="Rounded Rectangle 11"/>
          <p:cNvSpPr/>
          <p:nvPr/>
        </p:nvSpPr>
        <p:spPr>
          <a:xfrm>
            <a:off x="2313432" y="4800600"/>
            <a:ext cx="1280160" cy="731520"/>
          </a:xfrm>
          <a:prstGeom prst="roundRect">
            <a:avLst/>
          </a:prstGeom>
          <a:solidFill>
            <a:srgbClr val="0F1D16"/>
          </a:solidFill>
          <a:ln>
            <a:solidFill>
              <a:srgbClr val="B8FF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313432" y="4800600"/>
            <a:ext cx="73152" cy="731520"/>
          </a:xfrm>
          <a:prstGeom prst="roundRect">
            <a:avLst/>
          </a:prstGeom>
          <a:solidFill>
            <a:srgbClr val="B8F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78024" y="4965192"/>
            <a:ext cx="1005839" cy="502920"/>
          </a:xfrm>
          <a:prstGeom prst="rect">
            <a:avLst/>
          </a:prstGeom>
          <a:noFill/>
        </p:spPr>
        <p:txBody>
          <a:bodyPr wrap="square">
            <a:spAutoFit/>
          </a:bodyPr>
          <a:lstStyle/>
          <a:p>
            <a:r>
              <a:rPr sz="1600" b="1">
                <a:solidFill>
                  <a:srgbClr val="F4F6F0"/>
                </a:solidFill>
                <a:latin typeface="Aptos Display"/>
              </a:rPr>
              <a:t>Overspending AI</a:t>
            </a:r>
          </a:p>
          <a:p>
            <a:pPr>
              <a:lnSpc>
                <a:spcPct val="115000"/>
              </a:lnSpc>
              <a:spcBef>
                <a:spcPts val="600"/>
              </a:spcBef>
            </a:pPr>
            <a:r>
              <a:rPr sz="1150">
                <a:solidFill>
                  <a:srgbClr val="C4D2C7"/>
                </a:solidFill>
                <a:latin typeface="Aptos"/>
              </a:rPr>
              <a:t/>
            </a:r>
          </a:p>
        </p:txBody>
      </p:sp>
      <p:sp>
        <p:nvSpPr>
          <p:cNvPr id="15" name="Rounded Rectangle 14"/>
          <p:cNvSpPr/>
          <p:nvPr/>
        </p:nvSpPr>
        <p:spPr>
          <a:xfrm>
            <a:off x="3730752" y="4800600"/>
            <a:ext cx="1280160" cy="731520"/>
          </a:xfrm>
          <a:prstGeom prst="roundRect">
            <a:avLst/>
          </a:prstGeom>
          <a:solidFill>
            <a:srgbClr val="0F1D16"/>
          </a:solidFill>
          <a:ln>
            <a:solidFill>
              <a:srgbClr val="F1CC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730752" y="4800600"/>
            <a:ext cx="73152" cy="731520"/>
          </a:xfrm>
          <a:prstGeom prst="roundRect">
            <a:avLst/>
          </a:prstGeom>
          <a:solidFill>
            <a:srgbClr val="F1C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95344" y="4965192"/>
            <a:ext cx="1005839" cy="502920"/>
          </a:xfrm>
          <a:prstGeom prst="rect">
            <a:avLst/>
          </a:prstGeom>
          <a:noFill/>
        </p:spPr>
        <p:txBody>
          <a:bodyPr wrap="square">
            <a:spAutoFit/>
          </a:bodyPr>
          <a:lstStyle/>
          <a:p>
            <a:r>
              <a:rPr sz="1600" b="1">
                <a:solidFill>
                  <a:srgbClr val="F4F6F0"/>
                </a:solidFill>
                <a:latin typeface="Aptos Display"/>
              </a:rPr>
              <a:t>Goal Reasoning</a:t>
            </a:r>
          </a:p>
          <a:p>
            <a:pPr>
              <a:lnSpc>
                <a:spcPct val="115000"/>
              </a:lnSpc>
              <a:spcBef>
                <a:spcPts val="600"/>
              </a:spcBef>
            </a:pPr>
            <a:r>
              <a:rPr sz="1150">
                <a:solidFill>
                  <a:srgbClr val="C4D2C7"/>
                </a:solidFill>
                <a:latin typeface="Aptos"/>
              </a:rPr>
              <a:t/>
            </a:r>
          </a:p>
        </p:txBody>
      </p:sp>
      <p:sp>
        <p:nvSpPr>
          <p:cNvPr id="18" name="Rounded Rectangle 17"/>
          <p:cNvSpPr/>
          <p:nvPr/>
        </p:nvSpPr>
        <p:spPr>
          <a:xfrm>
            <a:off x="5148072" y="4800600"/>
            <a:ext cx="1280160" cy="731520"/>
          </a:xfrm>
          <a:prstGeom prst="roundRect">
            <a:avLst/>
          </a:prstGeom>
          <a:solidFill>
            <a:srgbClr val="0F1D16"/>
          </a:solidFill>
          <a:ln>
            <a:solidFill>
              <a:srgbClr val="FF8F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48072" y="4800600"/>
            <a:ext cx="73152" cy="731520"/>
          </a:xfrm>
          <a:prstGeom prst="roundRect">
            <a:avLst/>
          </a:prstGeom>
          <a:solidFill>
            <a:srgbClr val="FF8F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12664" y="4965192"/>
            <a:ext cx="1005839" cy="502920"/>
          </a:xfrm>
          <a:prstGeom prst="rect">
            <a:avLst/>
          </a:prstGeom>
          <a:noFill/>
        </p:spPr>
        <p:txBody>
          <a:bodyPr wrap="square">
            <a:spAutoFit/>
          </a:bodyPr>
          <a:lstStyle/>
          <a:p>
            <a:r>
              <a:rPr sz="1600" b="1">
                <a:solidFill>
                  <a:srgbClr val="F4F6F0"/>
                </a:solidFill>
                <a:latin typeface="Aptos Display"/>
              </a:rPr>
              <a:t>Adaptive Tracker</a:t>
            </a:r>
          </a:p>
          <a:p>
            <a:pPr>
              <a:lnSpc>
                <a:spcPct val="115000"/>
              </a:lnSpc>
              <a:spcBef>
                <a:spcPts val="600"/>
              </a:spcBef>
            </a:pPr>
            <a:r>
              <a:rPr sz="1150">
                <a:solidFill>
                  <a:srgbClr val="C4D2C7"/>
                </a:solidFill>
                <a:latin typeface="Aptos"/>
              </a:rPr>
              <a:t/>
            </a:r>
          </a:p>
        </p:txBody>
      </p:sp>
      <p:sp>
        <p:nvSpPr>
          <p:cNvPr id="21" name="Rounded Rectangle 20"/>
          <p:cNvSpPr/>
          <p:nvPr/>
        </p:nvSpPr>
        <p:spPr>
          <a:xfrm>
            <a:off x="7498079" y="1051560"/>
            <a:ext cx="4069080" cy="4754880"/>
          </a:xfrm>
          <a:prstGeom prst="roundRect">
            <a:avLst/>
          </a:prstGeom>
          <a:solidFill>
            <a:srgbClr val="F5F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818120" y="1463040"/>
            <a:ext cx="3429000" cy="868680"/>
          </a:xfrm>
          <a:prstGeom prst="roundRect">
            <a:avLst/>
          </a:prstGeom>
          <a:solidFill>
            <a:srgbClr val="F2F7F0"/>
          </a:solidFill>
          <a:ln>
            <a:solidFill>
              <a:srgbClr val="B8FF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64424" y="1572768"/>
            <a:ext cx="3154680" cy="640080"/>
          </a:xfrm>
          <a:prstGeom prst="rect">
            <a:avLst/>
          </a:prstGeom>
          <a:noFill/>
        </p:spPr>
        <p:txBody>
          <a:bodyPr wrap="none">
            <a:spAutoFit/>
          </a:bodyPr>
          <a:lstStyle/>
          <a:p>
            <a:r>
              <a:rPr sz="950" b="1">
                <a:solidFill>
                  <a:srgbClr val="59A04C"/>
                </a:solidFill>
                <a:latin typeface="Aptos"/>
              </a:rPr>
              <a:t>MEM-BRAIN ROLE</a:t>
            </a:r>
          </a:p>
          <a:p>
            <a:pPr>
              <a:spcBef>
                <a:spcPts val="200"/>
              </a:spcBef>
            </a:pPr>
            <a:r>
              <a:rPr sz="1600" b="1">
                <a:solidFill>
                  <a:srgbClr val="133325"/>
                </a:solidFill>
                <a:latin typeface="Aptos Display"/>
              </a:rPr>
              <a:t>Core memory layer</a:t>
            </a:r>
          </a:p>
        </p:txBody>
      </p:sp>
      <p:sp>
        <p:nvSpPr>
          <p:cNvPr id="24" name="Rounded Rectangle 23"/>
          <p:cNvSpPr/>
          <p:nvPr/>
        </p:nvSpPr>
        <p:spPr>
          <a:xfrm>
            <a:off x="7818120" y="2606040"/>
            <a:ext cx="3429000" cy="868680"/>
          </a:xfrm>
          <a:prstGeom prst="roundRect">
            <a:avLst/>
          </a:prstGeom>
          <a:solidFill>
            <a:srgbClr val="F2F7F0"/>
          </a:solidFill>
          <a:ln>
            <a:solidFill>
              <a:srgbClr val="FF8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64424" y="2715768"/>
            <a:ext cx="3154680" cy="640080"/>
          </a:xfrm>
          <a:prstGeom prst="rect">
            <a:avLst/>
          </a:prstGeom>
          <a:noFill/>
        </p:spPr>
        <p:txBody>
          <a:bodyPr wrap="none">
            <a:spAutoFit/>
          </a:bodyPr>
          <a:lstStyle/>
          <a:p>
            <a:r>
              <a:rPr sz="950" b="1">
                <a:solidFill>
                  <a:srgbClr val="59A04C"/>
                </a:solidFill>
                <a:latin typeface="Aptos"/>
              </a:rPr>
              <a:t>PROBLEM</a:t>
            </a:r>
          </a:p>
          <a:p>
            <a:pPr>
              <a:spcBef>
                <a:spcPts val="200"/>
              </a:spcBef>
            </a:pPr>
            <a:r>
              <a:rPr sz="1600" b="1">
                <a:solidFill>
                  <a:srgbClr val="133325"/>
                </a:solidFill>
                <a:latin typeface="Aptos Display"/>
              </a:rPr>
              <a:t>Fragmented money habits</a:t>
            </a:r>
          </a:p>
        </p:txBody>
      </p:sp>
      <p:sp>
        <p:nvSpPr>
          <p:cNvPr id="26" name="Rounded Rectangle 25"/>
          <p:cNvSpPr/>
          <p:nvPr/>
        </p:nvSpPr>
        <p:spPr>
          <a:xfrm>
            <a:off x="7818120" y="3749039"/>
            <a:ext cx="3429000" cy="868680"/>
          </a:xfrm>
          <a:prstGeom prst="roundRect">
            <a:avLst/>
          </a:prstGeom>
          <a:solidFill>
            <a:srgbClr val="F2F7F0"/>
          </a:solidFill>
          <a:ln>
            <a:solidFill>
              <a:srgbClr val="8D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64424" y="3858768"/>
            <a:ext cx="3154680" cy="640080"/>
          </a:xfrm>
          <a:prstGeom prst="rect">
            <a:avLst/>
          </a:prstGeom>
          <a:noFill/>
        </p:spPr>
        <p:txBody>
          <a:bodyPr wrap="none">
            <a:spAutoFit/>
          </a:bodyPr>
          <a:lstStyle/>
          <a:p>
            <a:r>
              <a:rPr sz="950" b="1">
                <a:solidFill>
                  <a:srgbClr val="59A04C"/>
                </a:solidFill>
                <a:latin typeface="Aptos"/>
              </a:rPr>
              <a:t>OUTCOME</a:t>
            </a:r>
          </a:p>
          <a:p>
            <a:pPr>
              <a:spcBef>
                <a:spcPts val="200"/>
              </a:spcBef>
            </a:pPr>
            <a:r>
              <a:rPr sz="1600" b="1">
                <a:solidFill>
                  <a:srgbClr val="133325"/>
                </a:solidFill>
                <a:latin typeface="Aptos Display"/>
              </a:rPr>
              <a:t>Actionable financial memory</a:t>
            </a:r>
          </a:p>
        </p:txBody>
      </p:sp>
      <p:sp>
        <p:nvSpPr>
          <p:cNvPr id="28" name="TextBox 27"/>
          <p:cNvSpPr txBox="1"/>
          <p:nvPr/>
        </p:nvSpPr>
        <p:spPr>
          <a:xfrm>
            <a:off x="7818120" y="4956048"/>
            <a:ext cx="3200400" cy="731520"/>
          </a:xfrm>
          <a:prstGeom prst="rect">
            <a:avLst/>
          </a:prstGeom>
          <a:noFill/>
        </p:spPr>
        <p:txBody>
          <a:bodyPr wrap="none">
            <a:spAutoFit/>
          </a:bodyPr>
          <a:lstStyle/>
          <a:p>
            <a:pPr algn="l"/>
            <a:r>
              <a:rPr sz="1150">
                <a:solidFill>
                  <a:srgbClr val="133325"/>
                </a:solidFill>
                <a:latin typeface="Aptos"/>
              </a:rPr>
              <a:t>Built for live demo clarity, visual storytelling, and Mem-Brain-first technical depth.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813"/>
        </a:solidFill>
        <a:effectLst/>
      </p:bgPr>
    </p:bg>
    <p:spTree>
      <p:nvGrpSpPr>
        <p:cNvPr id="1" name=""/>
        <p:cNvGrpSpPr/>
        <p:nvPr/>
      </p:nvGrpSpPr>
      <p:grpSpPr/>
      <p:sp>
        <p:nvSpPr>
          <p:cNvPr id="2" name="TextBox 1"/>
          <p:cNvSpPr txBox="1"/>
          <p:nvPr/>
        </p:nvSpPr>
        <p:spPr>
          <a:xfrm>
            <a:off x="685800" y="502920"/>
            <a:ext cx="3840480" cy="320040"/>
          </a:xfrm>
          <a:prstGeom prst="rect">
            <a:avLst/>
          </a:prstGeom>
          <a:noFill/>
        </p:spPr>
        <p:txBody>
          <a:bodyPr wrap="none">
            <a:spAutoFit/>
          </a:bodyPr>
          <a:lstStyle/>
          <a:p>
            <a:pPr algn="l"/>
            <a:r>
              <a:rPr sz="1000" b="1">
                <a:solidFill>
                  <a:srgbClr val="B8FF76"/>
                </a:solidFill>
                <a:latin typeface="Aptos"/>
              </a:rPr>
              <a:t>01  |  WHY THIS PRODUCT IS NEEDED</a:t>
            </a:r>
          </a:p>
        </p:txBody>
      </p:sp>
      <p:sp>
        <p:nvSpPr>
          <p:cNvPr id="3" name="TextBox 2"/>
          <p:cNvSpPr txBox="1"/>
          <p:nvPr/>
        </p:nvSpPr>
        <p:spPr>
          <a:xfrm>
            <a:off x="685800" y="822960"/>
            <a:ext cx="6583680" cy="1005840"/>
          </a:xfrm>
          <a:prstGeom prst="rect">
            <a:avLst/>
          </a:prstGeom>
          <a:noFill/>
        </p:spPr>
        <p:txBody>
          <a:bodyPr wrap="square">
            <a:spAutoFit/>
          </a:bodyPr>
          <a:lstStyle/>
          <a:p>
            <a:r>
              <a:rPr sz="2800" b="1">
                <a:solidFill>
                  <a:srgbClr val="F4F6F0"/>
                </a:solidFill>
                <a:latin typeface="Aptos Display"/>
              </a:rPr>
              <a:t>Most personal finance tools show transactions. They do not explain behavior.</a:t>
            </a:r>
          </a:p>
        </p:txBody>
      </p:sp>
      <p:sp>
        <p:nvSpPr>
          <p:cNvPr id="4" name="TextBox 3"/>
          <p:cNvSpPr txBox="1"/>
          <p:nvPr/>
        </p:nvSpPr>
        <p:spPr>
          <a:xfrm>
            <a:off x="685800" y="2011680"/>
            <a:ext cx="5669280" cy="1280160"/>
          </a:xfrm>
          <a:prstGeom prst="rect">
            <a:avLst/>
          </a:prstGeom>
          <a:noFill/>
        </p:spPr>
        <p:txBody>
          <a:bodyPr wrap="square">
            <a:spAutoFit/>
          </a:bodyPr>
          <a:lstStyle/>
          <a:p>
            <a:r>
              <a:rPr sz="1800">
                <a:solidFill>
                  <a:srgbClr val="C4D2C7"/>
                </a:solidFill>
                <a:latin typeface="Aptos"/>
              </a:rPr>
              <a:t>Users do not fail savings goals because they lack charts. They fail because spending patterns stay fragmented across small events, timing spikes, recurring merchants, and habits that ordinary apps do not remember or connect.</a:t>
            </a:r>
          </a:p>
        </p:txBody>
      </p:sp>
      <p:sp>
        <p:nvSpPr>
          <p:cNvPr id="5" name="Rounded Rectangle 4"/>
          <p:cNvSpPr/>
          <p:nvPr/>
        </p:nvSpPr>
        <p:spPr>
          <a:xfrm>
            <a:off x="6903720" y="1097280"/>
            <a:ext cx="2103120" cy="1417320"/>
          </a:xfrm>
          <a:prstGeom prst="roundRect">
            <a:avLst/>
          </a:prstGeom>
          <a:solidFill>
            <a:srgbClr val="0F1D16"/>
          </a:solidFill>
          <a:ln>
            <a:solidFill>
              <a:srgbClr val="FF8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903720" y="1097280"/>
            <a:ext cx="73152" cy="1417320"/>
          </a:xfrm>
          <a:prstGeom prst="roundRect">
            <a:avLst/>
          </a:prstGeom>
          <a:solidFill>
            <a:srgbClr val="FF8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68312" y="1261872"/>
            <a:ext cx="1828799" cy="1188720"/>
          </a:xfrm>
          <a:prstGeom prst="rect">
            <a:avLst/>
          </a:prstGeom>
          <a:noFill/>
        </p:spPr>
        <p:txBody>
          <a:bodyPr wrap="square">
            <a:spAutoFit/>
          </a:bodyPr>
          <a:lstStyle/>
          <a:p>
            <a:r>
              <a:rPr sz="1600" b="1">
                <a:solidFill>
                  <a:srgbClr val="F4F6F0"/>
                </a:solidFill>
                <a:latin typeface="Aptos Display"/>
              </a:rPr>
              <a:t>Dashboards stop at totals</a:t>
            </a:r>
          </a:p>
          <a:p>
            <a:pPr>
              <a:lnSpc>
                <a:spcPct val="115000"/>
              </a:lnSpc>
              <a:spcBef>
                <a:spcPts val="600"/>
              </a:spcBef>
            </a:pPr>
            <a:r>
              <a:rPr sz="1150">
                <a:solidFill>
                  <a:srgbClr val="C4D2C7"/>
                </a:solidFill>
                <a:latin typeface="Aptos"/>
              </a:rPr>
              <a:t>They show where money went, but not why the same behavior repeats every month.</a:t>
            </a:r>
          </a:p>
        </p:txBody>
      </p:sp>
      <p:sp>
        <p:nvSpPr>
          <p:cNvPr id="8" name="Rounded Rectangle 7"/>
          <p:cNvSpPr/>
          <p:nvPr/>
        </p:nvSpPr>
        <p:spPr>
          <a:xfrm>
            <a:off x="9189720" y="1097280"/>
            <a:ext cx="2103120" cy="1417320"/>
          </a:xfrm>
          <a:prstGeom prst="roundRect">
            <a:avLst/>
          </a:prstGeom>
          <a:solidFill>
            <a:srgbClr val="0F1D16"/>
          </a:solidFill>
          <a:ln>
            <a:solidFill>
              <a:srgbClr val="F1CC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89720" y="1097280"/>
            <a:ext cx="73152" cy="1417320"/>
          </a:xfrm>
          <a:prstGeom prst="roundRect">
            <a:avLst/>
          </a:prstGeom>
          <a:solidFill>
            <a:srgbClr val="F1C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54312" y="1261872"/>
            <a:ext cx="1828799" cy="1188720"/>
          </a:xfrm>
          <a:prstGeom prst="rect">
            <a:avLst/>
          </a:prstGeom>
          <a:noFill/>
        </p:spPr>
        <p:txBody>
          <a:bodyPr wrap="square">
            <a:spAutoFit/>
          </a:bodyPr>
          <a:lstStyle/>
          <a:p>
            <a:r>
              <a:rPr sz="1600" b="1">
                <a:solidFill>
                  <a:srgbClr val="F4F6F0"/>
                </a:solidFill>
                <a:latin typeface="Aptos Display"/>
              </a:rPr>
              <a:t>Goals fail quietly</a:t>
            </a:r>
          </a:p>
          <a:p>
            <a:pPr>
              <a:lnSpc>
                <a:spcPct val="115000"/>
              </a:lnSpc>
              <a:spcBef>
                <a:spcPts val="600"/>
              </a:spcBef>
            </a:pPr>
            <a:r>
              <a:rPr sz="1150">
                <a:solidFill>
                  <a:srgbClr val="C4D2C7"/>
                </a:solidFill>
                <a:latin typeface="Aptos"/>
              </a:rPr>
              <a:t>Static plans do not adapt when the user misses a checkpoint or saves extra.</a:t>
            </a:r>
          </a:p>
        </p:txBody>
      </p:sp>
      <p:sp>
        <p:nvSpPr>
          <p:cNvPr id="11" name="Rounded Rectangle 10"/>
          <p:cNvSpPr/>
          <p:nvPr/>
        </p:nvSpPr>
        <p:spPr>
          <a:xfrm>
            <a:off x="6903720" y="2743200"/>
            <a:ext cx="2103120" cy="1417320"/>
          </a:xfrm>
          <a:prstGeom prst="roundRect">
            <a:avLst/>
          </a:prstGeom>
          <a:solidFill>
            <a:srgbClr val="0F1D16"/>
          </a:solidFill>
          <a:ln>
            <a:solidFill>
              <a:srgbClr val="8D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903720" y="2743200"/>
            <a:ext cx="73152" cy="1417320"/>
          </a:xfrm>
          <a:prstGeom prst="roundRect">
            <a:avLst/>
          </a:prstGeom>
          <a:solidFill>
            <a:srgbClr val="8D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68312" y="2907792"/>
            <a:ext cx="1828799" cy="1188720"/>
          </a:xfrm>
          <a:prstGeom prst="rect">
            <a:avLst/>
          </a:prstGeom>
          <a:noFill/>
        </p:spPr>
        <p:txBody>
          <a:bodyPr wrap="square">
            <a:spAutoFit/>
          </a:bodyPr>
          <a:lstStyle/>
          <a:p>
            <a:r>
              <a:rPr sz="1600" b="1">
                <a:solidFill>
                  <a:srgbClr val="F4F6F0"/>
                </a:solidFill>
                <a:latin typeface="Aptos Display"/>
              </a:rPr>
              <a:t>AI without memory is shallow</a:t>
            </a:r>
          </a:p>
          <a:p>
            <a:pPr>
              <a:lnSpc>
                <a:spcPct val="115000"/>
              </a:lnSpc>
              <a:spcBef>
                <a:spcPts val="600"/>
              </a:spcBef>
            </a:pPr>
            <a:r>
              <a:rPr sz="1150">
                <a:solidFill>
                  <a:srgbClr val="C4D2C7"/>
                </a:solidFill>
                <a:latin typeface="Aptos"/>
              </a:rPr>
              <a:t>A plain chatbot answers from the prompt, not from linked financial context.</a:t>
            </a:r>
          </a:p>
        </p:txBody>
      </p:sp>
      <p:sp>
        <p:nvSpPr>
          <p:cNvPr id="14" name="Rounded Rectangle 13"/>
          <p:cNvSpPr/>
          <p:nvPr/>
        </p:nvSpPr>
        <p:spPr>
          <a:xfrm>
            <a:off x="9189720" y="2743200"/>
            <a:ext cx="2103120" cy="1417320"/>
          </a:xfrm>
          <a:prstGeom prst="roundRect">
            <a:avLst/>
          </a:prstGeom>
          <a:solidFill>
            <a:srgbClr val="0F1D16"/>
          </a:solidFill>
          <a:ln>
            <a:solidFill>
              <a:srgbClr val="FF8F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89720" y="2743200"/>
            <a:ext cx="73152" cy="1417320"/>
          </a:xfrm>
          <a:prstGeom prst="roundRect">
            <a:avLst/>
          </a:prstGeom>
          <a:solidFill>
            <a:srgbClr val="FF8F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54312" y="2907792"/>
            <a:ext cx="1828799" cy="1188720"/>
          </a:xfrm>
          <a:prstGeom prst="rect">
            <a:avLst/>
          </a:prstGeom>
          <a:noFill/>
        </p:spPr>
        <p:txBody>
          <a:bodyPr wrap="square">
            <a:spAutoFit/>
          </a:bodyPr>
          <a:lstStyle/>
          <a:p>
            <a:r>
              <a:rPr sz="1600" b="1">
                <a:solidFill>
                  <a:srgbClr val="F4F6F0"/>
                </a:solidFill>
                <a:latin typeface="Aptos Display"/>
              </a:rPr>
              <a:t>Patterns stay invisible</a:t>
            </a:r>
          </a:p>
          <a:p>
            <a:pPr>
              <a:lnSpc>
                <a:spcPct val="115000"/>
              </a:lnSpc>
              <a:spcBef>
                <a:spcPts val="600"/>
              </a:spcBef>
            </a:pPr>
            <a:r>
              <a:rPr sz="1150">
                <a:solidFill>
                  <a:srgbClr val="C4D2C7"/>
                </a:solidFill>
                <a:latin typeface="Aptos"/>
              </a:rPr>
              <a:t>Recurring merchants, salary-week leaks, and goal conflicts rarely appear in one place.</a:t>
            </a:r>
          </a:p>
        </p:txBody>
      </p:sp>
      <p:sp>
        <p:nvSpPr>
          <p:cNvPr id="17" name="Rounded Rectangle 16"/>
          <p:cNvSpPr/>
          <p:nvPr/>
        </p:nvSpPr>
        <p:spPr>
          <a:xfrm>
            <a:off x="685800" y="4754880"/>
            <a:ext cx="10607040" cy="1325880"/>
          </a:xfrm>
          <a:prstGeom prst="roundRect">
            <a:avLst/>
          </a:prstGeom>
          <a:solidFill>
            <a:srgbClr val="182A21"/>
          </a:solidFill>
          <a:ln>
            <a:solidFill>
              <a:srgbClr val="B8FF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074920"/>
            <a:ext cx="9875520" cy="548640"/>
          </a:xfrm>
          <a:prstGeom prst="rect">
            <a:avLst/>
          </a:prstGeom>
          <a:noFill/>
        </p:spPr>
        <p:txBody>
          <a:bodyPr wrap="square">
            <a:spAutoFit/>
          </a:bodyPr>
          <a:lstStyle/>
          <a:p>
            <a:r>
              <a:rPr sz="2000">
                <a:solidFill>
                  <a:srgbClr val="F4F6F0"/>
                </a:solidFill>
                <a:latin typeface="Aptos"/>
              </a:rPr>
              <a:t>What users actually need: a financial system that remembers context, surfaces relationships, and turns money history into decisions.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10D"/>
        </a:solidFill>
        <a:effectLst/>
      </p:bgPr>
    </p:bg>
    <p:spTree>
      <p:nvGrpSpPr>
        <p:cNvPr id="1" name=""/>
        <p:cNvGrpSpPr/>
        <p:nvPr/>
      </p:nvGrpSpPr>
      <p:grpSpPr/>
      <p:sp>
        <p:nvSpPr>
          <p:cNvPr id="2" name="TextBox 1"/>
          <p:cNvSpPr txBox="1"/>
          <p:nvPr/>
        </p:nvSpPr>
        <p:spPr>
          <a:xfrm>
            <a:off x="685800" y="502920"/>
            <a:ext cx="2743200" cy="320040"/>
          </a:xfrm>
          <a:prstGeom prst="rect">
            <a:avLst/>
          </a:prstGeom>
          <a:noFill/>
        </p:spPr>
        <p:txBody>
          <a:bodyPr wrap="none">
            <a:spAutoFit/>
          </a:bodyPr>
          <a:lstStyle/>
          <a:p>
            <a:pPr algn="l"/>
            <a:r>
              <a:rPr sz="1000" b="1">
                <a:solidFill>
                  <a:srgbClr val="B8FF76"/>
                </a:solidFill>
                <a:latin typeface="Aptos"/>
              </a:rPr>
              <a:t>02  |  THE PRODUCT</a:t>
            </a:r>
          </a:p>
        </p:txBody>
      </p:sp>
      <p:sp>
        <p:nvSpPr>
          <p:cNvPr id="3" name="TextBox 2"/>
          <p:cNvSpPr txBox="1"/>
          <p:nvPr/>
        </p:nvSpPr>
        <p:spPr>
          <a:xfrm>
            <a:off x="685800" y="822960"/>
            <a:ext cx="6400800" cy="1005840"/>
          </a:xfrm>
          <a:prstGeom prst="rect">
            <a:avLst/>
          </a:prstGeom>
          <a:noFill/>
        </p:spPr>
        <p:txBody>
          <a:bodyPr wrap="square">
            <a:spAutoFit/>
          </a:bodyPr>
          <a:lstStyle/>
          <a:p>
            <a:r>
              <a:rPr sz="2800" b="1">
                <a:solidFill>
                  <a:srgbClr val="F4F6F0"/>
                </a:solidFill>
                <a:latin typeface="Aptos Display"/>
              </a:rPr>
              <a:t>CatMoney is a memory-driven finance assistant.</a:t>
            </a:r>
          </a:p>
          <a:p>
            <a:pPr>
              <a:spcBef>
                <a:spcPts val="800"/>
              </a:spcBef>
            </a:pPr>
            <a:r>
              <a:rPr sz="1200">
                <a:solidFill>
                  <a:srgbClr val="C4D2C7"/>
                </a:solidFill>
                <a:latin typeface="Aptos"/>
              </a:rPr>
              <a:t>It does not just log expenses; it stores financial behavior as linked memory and reasons over it.</a:t>
            </a:r>
          </a:p>
        </p:txBody>
      </p:sp>
      <p:sp>
        <p:nvSpPr>
          <p:cNvPr id="4" name="Rounded Rectangle 3"/>
          <p:cNvSpPr/>
          <p:nvPr/>
        </p:nvSpPr>
        <p:spPr>
          <a:xfrm>
            <a:off x="777240" y="2148840"/>
            <a:ext cx="3429000" cy="1920240"/>
          </a:xfrm>
          <a:prstGeom prst="roundRect">
            <a:avLst/>
          </a:prstGeom>
          <a:solidFill>
            <a:srgbClr val="0F1D16"/>
          </a:solidFill>
          <a:ln>
            <a:solidFill>
              <a:srgbClr val="B8FF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2148840"/>
            <a:ext cx="73152" cy="1920240"/>
          </a:xfrm>
          <a:prstGeom prst="roundRect">
            <a:avLst/>
          </a:prstGeom>
          <a:solidFill>
            <a:srgbClr val="B8F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1832" y="2313432"/>
            <a:ext cx="3154680" cy="1691640"/>
          </a:xfrm>
          <a:prstGeom prst="rect">
            <a:avLst/>
          </a:prstGeom>
          <a:noFill/>
        </p:spPr>
        <p:txBody>
          <a:bodyPr wrap="square">
            <a:spAutoFit/>
          </a:bodyPr>
          <a:lstStyle/>
          <a:p>
            <a:r>
              <a:rPr sz="1600" b="1">
                <a:solidFill>
                  <a:srgbClr val="F4F6F0"/>
                </a:solidFill>
                <a:latin typeface="Aptos Display"/>
              </a:rPr>
              <a:t>Remember</a:t>
            </a:r>
          </a:p>
          <a:p>
            <a:pPr>
              <a:lnSpc>
                <a:spcPct val="115000"/>
              </a:lnSpc>
              <a:spcBef>
                <a:spcPts val="600"/>
              </a:spcBef>
            </a:pPr>
            <a:r>
              <a:rPr sz="1150">
                <a:solidFill>
                  <a:srgbClr val="C4D2C7"/>
                </a:solidFill>
                <a:latin typeface="Aptos"/>
              </a:rPr>
              <a:t>Every parsed transaction becomes a memory node with merchant, category, amount, date, month, week, and behavior metadata.</a:t>
            </a:r>
          </a:p>
        </p:txBody>
      </p:sp>
      <p:sp>
        <p:nvSpPr>
          <p:cNvPr id="7" name="Rounded Rectangle 6"/>
          <p:cNvSpPr/>
          <p:nvPr/>
        </p:nvSpPr>
        <p:spPr>
          <a:xfrm>
            <a:off x="4389120" y="2148840"/>
            <a:ext cx="3429000" cy="1920240"/>
          </a:xfrm>
          <a:prstGeom prst="roundRect">
            <a:avLst/>
          </a:prstGeom>
          <a:solidFill>
            <a:srgbClr val="0F1D16"/>
          </a:solidFill>
          <a:ln>
            <a:solidFill>
              <a:srgbClr val="8D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89120" y="2148840"/>
            <a:ext cx="73152" cy="1920240"/>
          </a:xfrm>
          <a:prstGeom prst="roundRect">
            <a:avLst/>
          </a:prstGeom>
          <a:solidFill>
            <a:srgbClr val="8D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2313432"/>
            <a:ext cx="3154680" cy="1691640"/>
          </a:xfrm>
          <a:prstGeom prst="rect">
            <a:avLst/>
          </a:prstGeom>
          <a:noFill/>
        </p:spPr>
        <p:txBody>
          <a:bodyPr wrap="square">
            <a:spAutoFit/>
          </a:bodyPr>
          <a:lstStyle/>
          <a:p>
            <a:r>
              <a:rPr sz="1600" b="1">
                <a:solidFill>
                  <a:srgbClr val="F4F6F0"/>
                </a:solidFill>
                <a:latin typeface="Aptos Display"/>
              </a:rPr>
              <a:t>Explain</a:t>
            </a:r>
          </a:p>
          <a:p>
            <a:pPr>
              <a:lnSpc>
                <a:spcPct val="115000"/>
              </a:lnSpc>
              <a:spcBef>
                <a:spcPts val="600"/>
              </a:spcBef>
            </a:pPr>
            <a:r>
              <a:rPr sz="1150">
                <a:solidFill>
                  <a:srgbClr val="C4D2C7"/>
                </a:solidFill>
                <a:latin typeface="Aptos"/>
              </a:rPr>
              <a:t>The app uses linked memory to explain overspending, recurring categories, and conflict with savings goals.</a:t>
            </a:r>
          </a:p>
        </p:txBody>
      </p:sp>
      <p:sp>
        <p:nvSpPr>
          <p:cNvPr id="10" name="Rounded Rectangle 9"/>
          <p:cNvSpPr/>
          <p:nvPr/>
        </p:nvSpPr>
        <p:spPr>
          <a:xfrm>
            <a:off x="8001000" y="2148840"/>
            <a:ext cx="3429000" cy="1920240"/>
          </a:xfrm>
          <a:prstGeom prst="roundRect">
            <a:avLst/>
          </a:prstGeom>
          <a:solidFill>
            <a:srgbClr val="0F1D16"/>
          </a:solidFill>
          <a:ln>
            <a:solidFill>
              <a:srgbClr val="F1CC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01000" y="2148840"/>
            <a:ext cx="73152" cy="1920240"/>
          </a:xfrm>
          <a:prstGeom prst="roundRect">
            <a:avLst/>
          </a:prstGeom>
          <a:solidFill>
            <a:srgbClr val="F1C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65592" y="2313432"/>
            <a:ext cx="3154680" cy="1691640"/>
          </a:xfrm>
          <a:prstGeom prst="rect">
            <a:avLst/>
          </a:prstGeom>
          <a:noFill/>
        </p:spPr>
        <p:txBody>
          <a:bodyPr wrap="square">
            <a:spAutoFit/>
          </a:bodyPr>
          <a:lstStyle/>
          <a:p>
            <a:r>
              <a:rPr sz="1600" b="1">
                <a:solidFill>
                  <a:srgbClr val="F4F6F0"/>
                </a:solidFill>
                <a:latin typeface="Aptos Display"/>
              </a:rPr>
              <a:t>Adapt</a:t>
            </a:r>
          </a:p>
          <a:p>
            <a:pPr>
              <a:lnSpc>
                <a:spcPct val="115000"/>
              </a:lnSpc>
              <a:spcBef>
                <a:spcPts val="600"/>
              </a:spcBef>
            </a:pPr>
            <a:r>
              <a:rPr sz="1150">
                <a:solidFill>
                  <a:srgbClr val="C4D2C7"/>
                </a:solidFill>
                <a:latin typeface="Aptos"/>
              </a:rPr>
              <a:t>Goal checkpoints update dynamically when the user misses, partially completes, or exceeds a target.</a:t>
            </a:r>
          </a:p>
        </p:txBody>
      </p:sp>
      <p:sp>
        <p:nvSpPr>
          <p:cNvPr id="13" name="Rounded Rectangle 12"/>
          <p:cNvSpPr/>
          <p:nvPr/>
        </p:nvSpPr>
        <p:spPr>
          <a:xfrm>
            <a:off x="868680" y="4709160"/>
            <a:ext cx="2057400" cy="914400"/>
          </a:xfrm>
          <a:prstGeom prst="roundRect">
            <a:avLst/>
          </a:prstGeom>
          <a:solidFill>
            <a:srgbClr val="182A21"/>
          </a:solidFill>
          <a:ln>
            <a:solidFill>
              <a:srgbClr val="B8FF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5" y="4837176"/>
            <a:ext cx="1837943" cy="658368"/>
          </a:xfrm>
          <a:prstGeom prst="rect">
            <a:avLst/>
          </a:prstGeom>
          <a:noFill/>
        </p:spPr>
        <p:txBody>
          <a:bodyPr wrap="none">
            <a:spAutoFit/>
          </a:bodyPr>
          <a:lstStyle/>
          <a:p>
            <a:r>
              <a:rPr sz="1000" b="1">
                <a:solidFill>
                  <a:srgbClr val="C4D2C7"/>
                </a:solidFill>
                <a:latin typeface="Aptos"/>
              </a:rPr>
              <a:t>Income tracked</a:t>
            </a:r>
          </a:p>
          <a:p>
            <a:pPr>
              <a:spcBef>
                <a:spcPts val="200"/>
              </a:spcBef>
            </a:pPr>
            <a:r>
              <a:rPr sz="1800" b="1">
                <a:solidFill>
                  <a:srgbClr val="F4F6F0"/>
                </a:solidFill>
                <a:latin typeface="Aptos Display"/>
              </a:rPr>
              <a:t>Rs 122,750</a:t>
            </a:r>
          </a:p>
        </p:txBody>
      </p:sp>
      <p:sp>
        <p:nvSpPr>
          <p:cNvPr id="15" name="Rounded Rectangle 14"/>
          <p:cNvSpPr/>
          <p:nvPr/>
        </p:nvSpPr>
        <p:spPr>
          <a:xfrm>
            <a:off x="3108960" y="4709160"/>
            <a:ext cx="2057400" cy="914400"/>
          </a:xfrm>
          <a:prstGeom prst="roundRect">
            <a:avLst/>
          </a:prstGeom>
          <a:solidFill>
            <a:srgbClr val="182A21"/>
          </a:solidFill>
          <a:ln>
            <a:solidFill>
              <a:srgbClr val="FF8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36976" y="4837176"/>
            <a:ext cx="1837943" cy="658368"/>
          </a:xfrm>
          <a:prstGeom prst="rect">
            <a:avLst/>
          </a:prstGeom>
          <a:noFill/>
        </p:spPr>
        <p:txBody>
          <a:bodyPr wrap="none">
            <a:spAutoFit/>
          </a:bodyPr>
          <a:lstStyle/>
          <a:p>
            <a:r>
              <a:rPr sz="1000" b="1">
                <a:solidFill>
                  <a:srgbClr val="C4D2C7"/>
                </a:solidFill>
                <a:latin typeface="Aptos"/>
              </a:rPr>
              <a:t>Spend tracked</a:t>
            </a:r>
          </a:p>
          <a:p>
            <a:pPr>
              <a:spcBef>
                <a:spcPts val="200"/>
              </a:spcBef>
            </a:pPr>
            <a:r>
              <a:rPr sz="1800" b="1">
                <a:solidFill>
                  <a:srgbClr val="F4F6F0"/>
                </a:solidFill>
                <a:latin typeface="Aptos Display"/>
              </a:rPr>
              <a:t>Rs 67,957</a:t>
            </a:r>
          </a:p>
        </p:txBody>
      </p:sp>
      <p:sp>
        <p:nvSpPr>
          <p:cNvPr id="17" name="Rounded Rectangle 16"/>
          <p:cNvSpPr/>
          <p:nvPr/>
        </p:nvSpPr>
        <p:spPr>
          <a:xfrm>
            <a:off x="5349240" y="4709160"/>
            <a:ext cx="2057400" cy="914400"/>
          </a:xfrm>
          <a:prstGeom prst="roundRect">
            <a:avLst/>
          </a:prstGeom>
          <a:solidFill>
            <a:srgbClr val="182A21"/>
          </a:solidFill>
          <a:ln>
            <a:solidFill>
              <a:srgbClr val="8D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77255" y="4837176"/>
            <a:ext cx="1837943" cy="658368"/>
          </a:xfrm>
          <a:prstGeom prst="rect">
            <a:avLst/>
          </a:prstGeom>
          <a:noFill/>
        </p:spPr>
        <p:txBody>
          <a:bodyPr wrap="none">
            <a:spAutoFit/>
          </a:bodyPr>
          <a:lstStyle/>
          <a:p>
            <a:r>
              <a:rPr sz="1000" b="1">
                <a:solidFill>
                  <a:srgbClr val="C4D2C7"/>
                </a:solidFill>
                <a:latin typeface="Aptos"/>
              </a:rPr>
              <a:t>Net retained</a:t>
            </a:r>
          </a:p>
          <a:p>
            <a:pPr>
              <a:spcBef>
                <a:spcPts val="200"/>
              </a:spcBef>
            </a:pPr>
            <a:r>
              <a:rPr sz="1800" b="1">
                <a:solidFill>
                  <a:srgbClr val="F4F6F0"/>
                </a:solidFill>
                <a:latin typeface="Aptos Display"/>
              </a:rPr>
              <a:t>Rs 54,793</a:t>
            </a:r>
          </a:p>
        </p:txBody>
      </p:sp>
      <p:sp>
        <p:nvSpPr>
          <p:cNvPr id="19" name="Rounded Rectangle 18"/>
          <p:cNvSpPr/>
          <p:nvPr/>
        </p:nvSpPr>
        <p:spPr>
          <a:xfrm>
            <a:off x="7589520" y="4709160"/>
            <a:ext cx="1828800" cy="914400"/>
          </a:xfrm>
          <a:prstGeom prst="roundRect">
            <a:avLst/>
          </a:prstGeom>
          <a:solidFill>
            <a:srgbClr val="182A21"/>
          </a:solidFill>
          <a:ln>
            <a:solidFill>
              <a:srgbClr val="FF8F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7536" y="4837176"/>
            <a:ext cx="1609344" cy="658368"/>
          </a:xfrm>
          <a:prstGeom prst="rect">
            <a:avLst/>
          </a:prstGeom>
          <a:noFill/>
        </p:spPr>
        <p:txBody>
          <a:bodyPr wrap="none">
            <a:spAutoFit/>
          </a:bodyPr>
          <a:lstStyle/>
          <a:p>
            <a:r>
              <a:rPr sz="1000" b="1">
                <a:solidFill>
                  <a:srgbClr val="C4D2C7"/>
                </a:solidFill>
                <a:latin typeface="Aptos"/>
              </a:rPr>
              <a:t>Graph nodes</a:t>
            </a:r>
          </a:p>
          <a:p>
            <a:pPr>
              <a:spcBef>
                <a:spcPts val="200"/>
              </a:spcBef>
            </a:pPr>
            <a:r>
              <a:rPr sz="1800" b="1">
                <a:solidFill>
                  <a:srgbClr val="F4F6F0"/>
                </a:solidFill>
                <a:latin typeface="Aptos Display"/>
              </a:rPr>
              <a:t>95</a:t>
            </a:r>
          </a:p>
        </p:txBody>
      </p:sp>
      <p:sp>
        <p:nvSpPr>
          <p:cNvPr id="21" name="Rounded Rectangle 20"/>
          <p:cNvSpPr/>
          <p:nvPr/>
        </p:nvSpPr>
        <p:spPr>
          <a:xfrm>
            <a:off x="9601200" y="4709160"/>
            <a:ext cx="1828800" cy="914400"/>
          </a:xfrm>
          <a:prstGeom prst="roundRect">
            <a:avLst/>
          </a:prstGeom>
          <a:solidFill>
            <a:srgbClr val="182A21"/>
          </a:solidFill>
          <a:ln>
            <a:solidFill>
              <a:srgbClr val="F1CC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29216" y="4837176"/>
            <a:ext cx="1609344" cy="658368"/>
          </a:xfrm>
          <a:prstGeom prst="rect">
            <a:avLst/>
          </a:prstGeom>
          <a:noFill/>
        </p:spPr>
        <p:txBody>
          <a:bodyPr wrap="none">
            <a:spAutoFit/>
          </a:bodyPr>
          <a:lstStyle/>
          <a:p>
            <a:r>
              <a:rPr sz="1000" b="1">
                <a:solidFill>
                  <a:srgbClr val="C4D2C7"/>
                </a:solidFill>
                <a:latin typeface="Aptos"/>
              </a:rPr>
              <a:t>Graph edges</a:t>
            </a:r>
          </a:p>
          <a:p>
            <a:pPr>
              <a:spcBef>
                <a:spcPts val="200"/>
              </a:spcBef>
            </a:pPr>
            <a:r>
              <a:rPr sz="1800" b="1">
                <a:solidFill>
                  <a:srgbClr val="F4F6F0"/>
                </a:solidFill>
                <a:latin typeface="Aptos Display"/>
              </a:rPr>
              <a:t>192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813"/>
        </a:solidFill>
        <a:effectLst/>
      </p:bgPr>
    </p:bg>
    <p:spTree>
      <p:nvGrpSpPr>
        <p:cNvPr id="1" name=""/>
        <p:cNvGrpSpPr/>
        <p:nvPr/>
      </p:nvGrpSpPr>
      <p:grpSpPr/>
      <p:sp>
        <p:nvSpPr>
          <p:cNvPr id="2" name="TextBox 1"/>
          <p:cNvSpPr txBox="1"/>
          <p:nvPr/>
        </p:nvSpPr>
        <p:spPr>
          <a:xfrm>
            <a:off x="685800" y="502920"/>
            <a:ext cx="4023360" cy="320040"/>
          </a:xfrm>
          <a:prstGeom prst="rect">
            <a:avLst/>
          </a:prstGeom>
          <a:noFill/>
        </p:spPr>
        <p:txBody>
          <a:bodyPr wrap="none">
            <a:spAutoFit/>
          </a:bodyPr>
          <a:lstStyle/>
          <a:p>
            <a:pPr algn="l"/>
            <a:r>
              <a:rPr sz="1000" b="1">
                <a:solidFill>
                  <a:srgbClr val="B8FF76"/>
                </a:solidFill>
                <a:latin typeface="Aptos"/>
              </a:rPr>
              <a:t>03  |  MEM-BRAIN INTEGRATION</a:t>
            </a:r>
          </a:p>
        </p:txBody>
      </p:sp>
      <p:sp>
        <p:nvSpPr>
          <p:cNvPr id="3" name="TextBox 2"/>
          <p:cNvSpPr txBox="1"/>
          <p:nvPr/>
        </p:nvSpPr>
        <p:spPr>
          <a:xfrm>
            <a:off x="685800" y="822960"/>
            <a:ext cx="7680960" cy="1005840"/>
          </a:xfrm>
          <a:prstGeom prst="rect">
            <a:avLst/>
          </a:prstGeom>
          <a:noFill/>
        </p:spPr>
        <p:txBody>
          <a:bodyPr wrap="square">
            <a:spAutoFit/>
          </a:bodyPr>
          <a:lstStyle/>
          <a:p>
            <a:r>
              <a:rPr sz="2800" b="1">
                <a:solidFill>
                  <a:srgbClr val="F4F6F0"/>
                </a:solidFill>
                <a:latin typeface="Aptos Display"/>
              </a:rPr>
              <a:t>Mem-Brain is not a hidden backend dependency here. It is the product engine.</a:t>
            </a:r>
          </a:p>
        </p:txBody>
      </p:sp>
      <p:sp>
        <p:nvSpPr>
          <p:cNvPr id="4" name="Rounded Rectangle 3"/>
          <p:cNvSpPr/>
          <p:nvPr/>
        </p:nvSpPr>
        <p:spPr>
          <a:xfrm>
            <a:off x="822960" y="2194560"/>
            <a:ext cx="1920240" cy="2240280"/>
          </a:xfrm>
          <a:prstGeom prst="roundRect">
            <a:avLst/>
          </a:prstGeom>
          <a:solidFill>
            <a:srgbClr val="0F1D16"/>
          </a:solidFill>
          <a:ln>
            <a:solidFill>
              <a:srgbClr val="B8FF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2194560"/>
            <a:ext cx="73152" cy="2240280"/>
          </a:xfrm>
          <a:prstGeom prst="roundRect">
            <a:avLst/>
          </a:prstGeom>
          <a:solidFill>
            <a:srgbClr val="B8F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2359152"/>
            <a:ext cx="1645920" cy="2011680"/>
          </a:xfrm>
          <a:prstGeom prst="rect">
            <a:avLst/>
          </a:prstGeom>
          <a:noFill/>
        </p:spPr>
        <p:txBody>
          <a:bodyPr wrap="square">
            <a:spAutoFit/>
          </a:bodyPr>
          <a:lstStyle/>
          <a:p>
            <a:r>
              <a:rPr sz="1600" b="1">
                <a:solidFill>
                  <a:srgbClr val="F4F6F0"/>
                </a:solidFill>
                <a:latin typeface="Aptos Display"/>
              </a:rPr>
              <a:t>1. Ingest</a:t>
            </a:r>
          </a:p>
          <a:p>
            <a:pPr>
              <a:lnSpc>
                <a:spcPct val="115000"/>
              </a:lnSpc>
              <a:spcBef>
                <a:spcPts val="600"/>
              </a:spcBef>
            </a:pPr>
            <a:r>
              <a:rPr sz="1150">
                <a:solidFill>
                  <a:srgbClr val="C4D2C7"/>
                </a:solidFill>
                <a:latin typeface="Aptos"/>
              </a:rPr>
              <a:t>Mock bank SMS and transaction events are parsed into structured financial memories.</a:t>
            </a:r>
          </a:p>
        </p:txBody>
      </p:sp>
      <p:cxnSp>
        <p:nvCxnSpPr>
          <p:cNvPr id="7" name="Connector 6"/>
          <p:cNvCxnSpPr/>
          <p:nvPr/>
        </p:nvCxnSpPr>
        <p:spPr>
          <a:xfrm>
            <a:off x="2743200" y="3291840"/>
            <a:ext cx="228600" cy="0"/>
          </a:xfrm>
          <a:prstGeom prst="line">
            <a:avLst/>
          </a:prstGeom>
          <a:ln w="27940">
            <a:solidFill>
              <a:srgbClr val="B8FF7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035808" y="2194560"/>
            <a:ext cx="1920240" cy="2240280"/>
          </a:xfrm>
          <a:prstGeom prst="roundRect">
            <a:avLst/>
          </a:prstGeom>
          <a:solidFill>
            <a:srgbClr val="0F1D16"/>
          </a:solidFill>
          <a:ln>
            <a:solidFill>
              <a:srgbClr val="8D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035808" y="2194560"/>
            <a:ext cx="73152" cy="2240280"/>
          </a:xfrm>
          <a:prstGeom prst="roundRect">
            <a:avLst/>
          </a:prstGeom>
          <a:solidFill>
            <a:srgbClr val="8D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0" y="2359152"/>
            <a:ext cx="1645920" cy="2011680"/>
          </a:xfrm>
          <a:prstGeom prst="rect">
            <a:avLst/>
          </a:prstGeom>
          <a:noFill/>
        </p:spPr>
        <p:txBody>
          <a:bodyPr wrap="square">
            <a:spAutoFit/>
          </a:bodyPr>
          <a:lstStyle/>
          <a:p>
            <a:r>
              <a:rPr sz="1600" b="1">
                <a:solidFill>
                  <a:srgbClr val="F4F6F0"/>
                </a:solidFill>
                <a:latin typeface="Aptos Display"/>
              </a:rPr>
              <a:t>2. Enrich</a:t>
            </a:r>
          </a:p>
          <a:p>
            <a:pPr>
              <a:lnSpc>
                <a:spcPct val="115000"/>
              </a:lnSpc>
              <a:spcBef>
                <a:spcPts val="600"/>
              </a:spcBef>
            </a:pPr>
            <a:r>
              <a:rPr sz="1150">
                <a:solidFill>
                  <a:srgbClr val="C4D2C7"/>
                </a:solidFill>
                <a:latin typeface="Aptos"/>
              </a:rPr>
              <a:t>Each memory gets tags like merchant, category, amount, month, week, and transaction type.</a:t>
            </a:r>
          </a:p>
        </p:txBody>
      </p:sp>
      <p:cxnSp>
        <p:nvCxnSpPr>
          <p:cNvPr id="11" name="Connector 10"/>
          <p:cNvCxnSpPr/>
          <p:nvPr/>
        </p:nvCxnSpPr>
        <p:spPr>
          <a:xfrm>
            <a:off x="4956048" y="3291840"/>
            <a:ext cx="228600" cy="0"/>
          </a:xfrm>
          <a:prstGeom prst="line">
            <a:avLst/>
          </a:prstGeom>
          <a:ln w="27940">
            <a:solidFill>
              <a:srgbClr val="B8FF7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248656" y="2194560"/>
            <a:ext cx="1920240" cy="2240280"/>
          </a:xfrm>
          <a:prstGeom prst="roundRect">
            <a:avLst/>
          </a:prstGeom>
          <a:solidFill>
            <a:srgbClr val="0F1D16"/>
          </a:solidFill>
          <a:ln>
            <a:solidFill>
              <a:srgbClr val="FF8F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248656" y="2194560"/>
            <a:ext cx="73152" cy="2240280"/>
          </a:xfrm>
          <a:prstGeom prst="roundRect">
            <a:avLst/>
          </a:prstGeom>
          <a:solidFill>
            <a:srgbClr val="FF8F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13248" y="2359152"/>
            <a:ext cx="1645920" cy="2011680"/>
          </a:xfrm>
          <a:prstGeom prst="rect">
            <a:avLst/>
          </a:prstGeom>
          <a:noFill/>
        </p:spPr>
        <p:txBody>
          <a:bodyPr wrap="square">
            <a:spAutoFit/>
          </a:bodyPr>
          <a:lstStyle/>
          <a:p>
            <a:r>
              <a:rPr sz="1600" b="1">
                <a:solidFill>
                  <a:srgbClr val="F4F6F0"/>
                </a:solidFill>
                <a:latin typeface="Aptos Display"/>
              </a:rPr>
              <a:t>3. Link</a:t>
            </a:r>
          </a:p>
          <a:p>
            <a:pPr>
              <a:lnSpc>
                <a:spcPct val="115000"/>
              </a:lnSpc>
              <a:spcBef>
                <a:spcPts val="600"/>
              </a:spcBef>
            </a:pPr>
            <a:r>
              <a:rPr sz="1150">
                <a:solidFill>
                  <a:srgbClr val="C4D2C7"/>
                </a:solidFill>
                <a:latin typeface="Aptos"/>
              </a:rPr>
              <a:t>Memories are connected to categories, merchants, time buckets, goals, and life events.</a:t>
            </a:r>
          </a:p>
        </p:txBody>
      </p:sp>
      <p:cxnSp>
        <p:nvCxnSpPr>
          <p:cNvPr id="15" name="Connector 14"/>
          <p:cNvCxnSpPr/>
          <p:nvPr/>
        </p:nvCxnSpPr>
        <p:spPr>
          <a:xfrm>
            <a:off x="7168896" y="3291840"/>
            <a:ext cx="228600" cy="0"/>
          </a:xfrm>
          <a:prstGeom prst="line">
            <a:avLst/>
          </a:prstGeom>
          <a:ln w="27940">
            <a:solidFill>
              <a:srgbClr val="B8FF76"/>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461504" y="2194560"/>
            <a:ext cx="1920240" cy="2240280"/>
          </a:xfrm>
          <a:prstGeom prst="roundRect">
            <a:avLst/>
          </a:prstGeom>
          <a:solidFill>
            <a:srgbClr val="0F1D16"/>
          </a:solidFill>
          <a:ln>
            <a:solidFill>
              <a:srgbClr val="F1CC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61504" y="2194560"/>
            <a:ext cx="73152" cy="2240280"/>
          </a:xfrm>
          <a:prstGeom prst="roundRect">
            <a:avLst/>
          </a:prstGeom>
          <a:solidFill>
            <a:srgbClr val="F1C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26096" y="2359152"/>
            <a:ext cx="1645920" cy="2011680"/>
          </a:xfrm>
          <a:prstGeom prst="rect">
            <a:avLst/>
          </a:prstGeom>
          <a:noFill/>
        </p:spPr>
        <p:txBody>
          <a:bodyPr wrap="square">
            <a:spAutoFit/>
          </a:bodyPr>
          <a:lstStyle/>
          <a:p>
            <a:r>
              <a:rPr sz="1600" b="1">
                <a:solidFill>
                  <a:srgbClr val="F4F6F0"/>
                </a:solidFill>
                <a:latin typeface="Aptos Display"/>
              </a:rPr>
              <a:t>4. Retrieve</a:t>
            </a:r>
          </a:p>
          <a:p>
            <a:pPr>
              <a:lnSpc>
                <a:spcPct val="115000"/>
              </a:lnSpc>
              <a:spcBef>
                <a:spcPts val="600"/>
              </a:spcBef>
            </a:pPr>
            <a:r>
              <a:rPr sz="1150">
                <a:solidFill>
                  <a:srgbClr val="C4D2C7"/>
                </a:solidFill>
                <a:latin typeface="Aptos"/>
              </a:rPr>
              <a:t>Interpreted search and graph retrieval fetch context, not only keyword matches.</a:t>
            </a:r>
          </a:p>
        </p:txBody>
      </p:sp>
      <p:cxnSp>
        <p:nvCxnSpPr>
          <p:cNvPr id="19" name="Connector 18"/>
          <p:cNvCxnSpPr/>
          <p:nvPr/>
        </p:nvCxnSpPr>
        <p:spPr>
          <a:xfrm>
            <a:off x="9381744" y="3291840"/>
            <a:ext cx="228600" cy="0"/>
          </a:xfrm>
          <a:prstGeom prst="line">
            <a:avLst/>
          </a:prstGeom>
          <a:ln w="27940">
            <a:solidFill>
              <a:srgbClr val="B8FF76"/>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674352" y="2194560"/>
            <a:ext cx="1920240" cy="2240280"/>
          </a:xfrm>
          <a:prstGeom prst="roundRect">
            <a:avLst/>
          </a:prstGeom>
          <a:solidFill>
            <a:srgbClr val="0F1D16"/>
          </a:solidFill>
          <a:ln>
            <a:solidFill>
              <a:srgbClr val="FF8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674352" y="2194560"/>
            <a:ext cx="73152" cy="2240280"/>
          </a:xfrm>
          <a:prstGeom prst="roundRect">
            <a:avLst/>
          </a:prstGeom>
          <a:solidFill>
            <a:srgbClr val="FF8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38944" y="2359152"/>
            <a:ext cx="1645920" cy="2011680"/>
          </a:xfrm>
          <a:prstGeom prst="rect">
            <a:avLst/>
          </a:prstGeom>
          <a:noFill/>
        </p:spPr>
        <p:txBody>
          <a:bodyPr wrap="square">
            <a:spAutoFit/>
          </a:bodyPr>
          <a:lstStyle/>
          <a:p>
            <a:r>
              <a:rPr sz="1600" b="1">
                <a:solidFill>
                  <a:srgbClr val="F4F6F0"/>
                </a:solidFill>
                <a:latin typeface="Aptos Display"/>
              </a:rPr>
              <a:t>5. Reason</a:t>
            </a:r>
          </a:p>
          <a:p>
            <a:pPr>
              <a:lnSpc>
                <a:spcPct val="115000"/>
              </a:lnSpc>
              <a:spcBef>
                <a:spcPts val="600"/>
              </a:spcBef>
            </a:pPr>
            <a:r>
              <a:rPr sz="1150">
                <a:solidFill>
                  <a:srgbClr val="C4D2C7"/>
                </a:solidFill>
                <a:latin typeface="Aptos"/>
              </a:rPr>
              <a:t>The assistant and dashboards turn linked memories into insights, risks, and actions.</a:t>
            </a:r>
          </a:p>
        </p:txBody>
      </p:sp>
      <p:sp>
        <p:nvSpPr>
          <p:cNvPr id="23" name="Rounded Rectangle 22"/>
          <p:cNvSpPr/>
          <p:nvPr/>
        </p:nvSpPr>
        <p:spPr>
          <a:xfrm>
            <a:off x="8229600" y="4892040"/>
            <a:ext cx="3063240" cy="1097280"/>
          </a:xfrm>
          <a:prstGeom prst="roundRect">
            <a:avLst/>
          </a:prstGeom>
          <a:solidFill>
            <a:srgbClr val="182A21"/>
          </a:solidFill>
          <a:ln>
            <a:solidFill>
              <a:srgbClr val="8D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0" y="5193792"/>
            <a:ext cx="2697480" cy="640080"/>
          </a:xfrm>
          <a:prstGeom prst="rect">
            <a:avLst/>
          </a:prstGeom>
          <a:noFill/>
        </p:spPr>
        <p:txBody>
          <a:bodyPr wrap="square">
            <a:spAutoFit/>
          </a:bodyPr>
          <a:lstStyle/>
          <a:p>
            <a:r>
              <a:rPr sz="1200">
                <a:solidFill>
                  <a:srgbClr val="C4D2C7"/>
                </a:solidFill>
                <a:latin typeface="Aptos"/>
              </a:rPr>
              <a:t>Current graph: 48 transaction memories, 10 categories, 26 merchants, strongest relation = same category.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10D"/>
        </a:solidFill>
        <a:effectLst/>
      </p:bgPr>
    </p:bg>
    <p:spTree>
      <p:nvGrpSpPr>
        <p:cNvPr id="1" name=""/>
        <p:cNvGrpSpPr/>
        <p:nvPr/>
      </p:nvGrpSpPr>
      <p:grpSpPr/>
      <p:sp>
        <p:nvSpPr>
          <p:cNvPr id="2" name="TextBox 1"/>
          <p:cNvSpPr txBox="1"/>
          <p:nvPr/>
        </p:nvSpPr>
        <p:spPr>
          <a:xfrm>
            <a:off x="685800" y="502920"/>
            <a:ext cx="3474720" cy="320040"/>
          </a:xfrm>
          <a:prstGeom prst="rect">
            <a:avLst/>
          </a:prstGeom>
          <a:noFill/>
        </p:spPr>
        <p:txBody>
          <a:bodyPr wrap="none">
            <a:spAutoFit/>
          </a:bodyPr>
          <a:lstStyle/>
          <a:p>
            <a:pPr algn="l"/>
            <a:r>
              <a:rPr sz="1000" b="1">
                <a:solidFill>
                  <a:srgbClr val="B8FF76"/>
                </a:solidFill>
                <a:latin typeface="Aptos"/>
              </a:rPr>
              <a:t>04  |  FEATURE SHOWCASE</a:t>
            </a:r>
          </a:p>
        </p:txBody>
      </p:sp>
      <p:sp>
        <p:nvSpPr>
          <p:cNvPr id="3" name="TextBox 2"/>
          <p:cNvSpPr txBox="1"/>
          <p:nvPr/>
        </p:nvSpPr>
        <p:spPr>
          <a:xfrm>
            <a:off x="685800" y="822960"/>
            <a:ext cx="7315200" cy="1005840"/>
          </a:xfrm>
          <a:prstGeom prst="rect">
            <a:avLst/>
          </a:prstGeom>
          <a:noFill/>
        </p:spPr>
        <p:txBody>
          <a:bodyPr wrap="square">
            <a:spAutoFit/>
          </a:bodyPr>
          <a:lstStyle/>
          <a:p>
            <a:r>
              <a:rPr sz="2800" b="1">
                <a:solidFill>
                  <a:srgbClr val="F4F6F0"/>
                </a:solidFill>
                <a:latin typeface="Aptos Display"/>
              </a:rPr>
              <a:t>The experience is built to make Mem-Brain visible in the UI.</a:t>
            </a:r>
          </a:p>
        </p:txBody>
      </p:sp>
      <p:sp>
        <p:nvSpPr>
          <p:cNvPr id="4" name="Rounded Rectangle 3"/>
          <p:cNvSpPr/>
          <p:nvPr/>
        </p:nvSpPr>
        <p:spPr>
          <a:xfrm>
            <a:off x="777240" y="1920240"/>
            <a:ext cx="2880360" cy="1691640"/>
          </a:xfrm>
          <a:prstGeom prst="roundRect">
            <a:avLst/>
          </a:prstGeom>
          <a:solidFill>
            <a:srgbClr val="0F1D16"/>
          </a:solidFill>
          <a:ln>
            <a:solidFill>
              <a:srgbClr val="B8FF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920240"/>
            <a:ext cx="73152" cy="1691640"/>
          </a:xfrm>
          <a:prstGeom prst="roundRect">
            <a:avLst/>
          </a:prstGeom>
          <a:solidFill>
            <a:srgbClr val="B8F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1832" y="2084832"/>
            <a:ext cx="2606040" cy="1463040"/>
          </a:xfrm>
          <a:prstGeom prst="rect">
            <a:avLst/>
          </a:prstGeom>
          <a:noFill/>
        </p:spPr>
        <p:txBody>
          <a:bodyPr wrap="square">
            <a:spAutoFit/>
          </a:bodyPr>
          <a:lstStyle/>
          <a:p>
            <a:r>
              <a:rPr sz="1600" b="1">
                <a:solidFill>
                  <a:srgbClr val="F4F6F0"/>
                </a:solidFill>
                <a:latin typeface="Aptos Display"/>
              </a:rPr>
              <a:t>Overview Dashboard</a:t>
            </a:r>
          </a:p>
          <a:p>
            <a:pPr>
              <a:lnSpc>
                <a:spcPct val="115000"/>
              </a:lnSpc>
              <a:spcBef>
                <a:spcPts val="600"/>
              </a:spcBef>
            </a:pPr>
            <a:r>
              <a:rPr sz="1150">
                <a:solidFill>
                  <a:srgbClr val="C4D2C7"/>
                </a:solidFill>
                <a:latin typeface="Aptos"/>
              </a:rPr>
              <a:t>Live spending, income, category mix, and memory counts in a polished product shell.</a:t>
            </a:r>
          </a:p>
        </p:txBody>
      </p:sp>
      <p:sp>
        <p:nvSpPr>
          <p:cNvPr id="7" name="Rounded Rectangle 6"/>
          <p:cNvSpPr/>
          <p:nvPr/>
        </p:nvSpPr>
        <p:spPr>
          <a:xfrm>
            <a:off x="4069080" y="1920240"/>
            <a:ext cx="2880360" cy="1691640"/>
          </a:xfrm>
          <a:prstGeom prst="roundRect">
            <a:avLst/>
          </a:prstGeom>
          <a:solidFill>
            <a:srgbClr val="0F1D16"/>
          </a:solidFill>
          <a:ln>
            <a:solidFill>
              <a:srgbClr val="8D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069080" y="1920240"/>
            <a:ext cx="73152" cy="1691640"/>
          </a:xfrm>
          <a:prstGeom prst="roundRect">
            <a:avLst/>
          </a:prstGeom>
          <a:solidFill>
            <a:srgbClr val="8D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33672" y="2084832"/>
            <a:ext cx="2606040" cy="1463040"/>
          </a:xfrm>
          <a:prstGeom prst="rect">
            <a:avLst/>
          </a:prstGeom>
          <a:noFill/>
        </p:spPr>
        <p:txBody>
          <a:bodyPr wrap="square">
            <a:spAutoFit/>
          </a:bodyPr>
          <a:lstStyle/>
          <a:p>
            <a:r>
              <a:rPr sz="1600" b="1">
                <a:solidFill>
                  <a:srgbClr val="F4F6F0"/>
                </a:solidFill>
                <a:latin typeface="Aptos Display"/>
              </a:rPr>
              <a:t>Insights</a:t>
            </a:r>
          </a:p>
          <a:p>
            <a:pPr>
              <a:lnSpc>
                <a:spcPct val="115000"/>
              </a:lnSpc>
              <a:spcBef>
                <a:spcPts val="600"/>
              </a:spcBef>
            </a:pPr>
            <a:r>
              <a:rPr sz="1150">
                <a:solidFill>
                  <a:srgbClr val="C4D2C7"/>
                </a:solidFill>
                <a:latin typeface="Aptos"/>
              </a:rPr>
              <a:t>Monthly comparisons, top spend areas, and behavioral summaries from memory-backed analysis.</a:t>
            </a:r>
          </a:p>
        </p:txBody>
      </p:sp>
      <p:sp>
        <p:nvSpPr>
          <p:cNvPr id="10" name="Rounded Rectangle 9"/>
          <p:cNvSpPr/>
          <p:nvPr/>
        </p:nvSpPr>
        <p:spPr>
          <a:xfrm>
            <a:off x="7360920" y="1920240"/>
            <a:ext cx="2880360" cy="1691640"/>
          </a:xfrm>
          <a:prstGeom prst="roundRect">
            <a:avLst/>
          </a:prstGeom>
          <a:solidFill>
            <a:srgbClr val="0F1D16"/>
          </a:solidFill>
          <a:ln>
            <a:solidFill>
              <a:srgbClr val="FF8F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60920" y="1920240"/>
            <a:ext cx="73152" cy="1691640"/>
          </a:xfrm>
          <a:prstGeom prst="roundRect">
            <a:avLst/>
          </a:prstGeom>
          <a:solidFill>
            <a:srgbClr val="FF8F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25512" y="2084832"/>
            <a:ext cx="2606040" cy="1463040"/>
          </a:xfrm>
          <a:prstGeom prst="rect">
            <a:avLst/>
          </a:prstGeom>
          <a:noFill/>
        </p:spPr>
        <p:txBody>
          <a:bodyPr wrap="square">
            <a:spAutoFit/>
          </a:bodyPr>
          <a:lstStyle/>
          <a:p>
            <a:r>
              <a:rPr sz="1600" b="1">
                <a:solidFill>
                  <a:srgbClr val="F4F6F0"/>
                </a:solidFill>
                <a:latin typeface="Aptos Display"/>
              </a:rPr>
              <a:t>Memory Graph</a:t>
            </a:r>
          </a:p>
          <a:p>
            <a:pPr>
              <a:lnSpc>
                <a:spcPct val="115000"/>
              </a:lnSpc>
              <a:spcBef>
                <a:spcPts val="600"/>
              </a:spcBef>
            </a:pPr>
            <a:r>
              <a:rPr sz="1150">
                <a:solidFill>
                  <a:srgbClr val="C4D2C7"/>
                </a:solidFill>
                <a:latin typeface="Aptos"/>
              </a:rPr>
              <a:t>A D3 force graph that visualizes how transactions connect to merchants, categories, and goals.</a:t>
            </a:r>
          </a:p>
        </p:txBody>
      </p:sp>
      <p:sp>
        <p:nvSpPr>
          <p:cNvPr id="13" name="Rounded Rectangle 12"/>
          <p:cNvSpPr/>
          <p:nvPr/>
        </p:nvSpPr>
        <p:spPr>
          <a:xfrm>
            <a:off x="777240" y="3977639"/>
            <a:ext cx="2880360" cy="1691640"/>
          </a:xfrm>
          <a:prstGeom prst="roundRect">
            <a:avLst/>
          </a:prstGeom>
          <a:solidFill>
            <a:srgbClr val="0F1D16"/>
          </a:solidFill>
          <a:ln>
            <a:solidFill>
              <a:srgbClr val="F1CC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77240" y="3977639"/>
            <a:ext cx="73152" cy="1691640"/>
          </a:xfrm>
          <a:prstGeom prst="roundRect">
            <a:avLst/>
          </a:prstGeom>
          <a:solidFill>
            <a:srgbClr val="F1C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4142231"/>
            <a:ext cx="2606040" cy="1463040"/>
          </a:xfrm>
          <a:prstGeom prst="rect">
            <a:avLst/>
          </a:prstGeom>
          <a:noFill/>
        </p:spPr>
        <p:txBody>
          <a:bodyPr wrap="square">
            <a:spAutoFit/>
          </a:bodyPr>
          <a:lstStyle/>
          <a:p>
            <a:r>
              <a:rPr sz="1600" b="1">
                <a:solidFill>
                  <a:srgbClr val="F4F6F0"/>
                </a:solidFill>
                <a:latin typeface="Aptos Display"/>
              </a:rPr>
              <a:t>Overspending Explainer</a:t>
            </a:r>
          </a:p>
          <a:p>
            <a:pPr>
              <a:lnSpc>
                <a:spcPct val="115000"/>
              </a:lnSpc>
              <a:spcBef>
                <a:spcPts val="600"/>
              </a:spcBef>
            </a:pPr>
            <a:r>
              <a:rPr sz="1150">
                <a:solidFill>
                  <a:srgbClr val="C4D2C7"/>
                </a:solidFill>
                <a:latin typeface="Aptos"/>
              </a:rPr>
              <a:t>Answers why spending pressure appears, not just how much was spent.</a:t>
            </a:r>
          </a:p>
        </p:txBody>
      </p:sp>
      <p:sp>
        <p:nvSpPr>
          <p:cNvPr id="16" name="Rounded Rectangle 15"/>
          <p:cNvSpPr/>
          <p:nvPr/>
        </p:nvSpPr>
        <p:spPr>
          <a:xfrm>
            <a:off x="4069080" y="3977639"/>
            <a:ext cx="2880360" cy="1691640"/>
          </a:xfrm>
          <a:prstGeom prst="roundRect">
            <a:avLst/>
          </a:prstGeom>
          <a:solidFill>
            <a:srgbClr val="0F1D16"/>
          </a:solidFill>
          <a:ln>
            <a:solidFill>
              <a:srgbClr val="FF8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069080" y="3977639"/>
            <a:ext cx="73152" cy="1691640"/>
          </a:xfrm>
          <a:prstGeom prst="roundRect">
            <a:avLst/>
          </a:prstGeom>
          <a:solidFill>
            <a:srgbClr val="FF8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33672" y="4142231"/>
            <a:ext cx="2606040" cy="1463040"/>
          </a:xfrm>
          <a:prstGeom prst="rect">
            <a:avLst/>
          </a:prstGeom>
          <a:noFill/>
        </p:spPr>
        <p:txBody>
          <a:bodyPr wrap="square">
            <a:spAutoFit/>
          </a:bodyPr>
          <a:lstStyle/>
          <a:p>
            <a:r>
              <a:rPr sz="1600" b="1">
                <a:solidFill>
                  <a:srgbClr val="F4F6F0"/>
                </a:solidFill>
                <a:latin typeface="Aptos Display"/>
              </a:rPr>
              <a:t>Goal Reasoning</a:t>
            </a:r>
          </a:p>
          <a:p>
            <a:pPr>
              <a:lnSpc>
                <a:spcPct val="115000"/>
              </a:lnSpc>
              <a:spcBef>
                <a:spcPts val="600"/>
              </a:spcBef>
            </a:pPr>
            <a:r>
              <a:rPr sz="1150">
                <a:solidFill>
                  <a:srgbClr val="C4D2C7"/>
                </a:solidFill>
                <a:latin typeface="Aptos"/>
              </a:rPr>
              <a:t>Connects savings targets with real spending conflicts and action plans.</a:t>
            </a:r>
          </a:p>
        </p:txBody>
      </p:sp>
      <p:sp>
        <p:nvSpPr>
          <p:cNvPr id="19" name="Rounded Rectangle 18"/>
          <p:cNvSpPr/>
          <p:nvPr/>
        </p:nvSpPr>
        <p:spPr>
          <a:xfrm>
            <a:off x="7360920" y="3977639"/>
            <a:ext cx="2880360" cy="1691640"/>
          </a:xfrm>
          <a:prstGeom prst="roundRect">
            <a:avLst/>
          </a:prstGeom>
          <a:solidFill>
            <a:srgbClr val="0F1D16"/>
          </a:solidFill>
          <a:ln>
            <a:solidFill>
              <a:srgbClr val="8D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60920" y="3977639"/>
            <a:ext cx="73152" cy="1691640"/>
          </a:xfrm>
          <a:prstGeom prst="roundRect">
            <a:avLst/>
          </a:prstGeom>
          <a:solidFill>
            <a:srgbClr val="8D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25512" y="4142231"/>
            <a:ext cx="2606040" cy="1463040"/>
          </a:xfrm>
          <a:prstGeom prst="rect">
            <a:avLst/>
          </a:prstGeom>
          <a:noFill/>
        </p:spPr>
        <p:txBody>
          <a:bodyPr wrap="square">
            <a:spAutoFit/>
          </a:bodyPr>
          <a:lstStyle/>
          <a:p>
            <a:r>
              <a:rPr sz="1600" b="1">
                <a:solidFill>
                  <a:srgbClr val="F4F6F0"/>
                </a:solidFill>
                <a:latin typeface="Aptos Display"/>
              </a:rPr>
              <a:t>Adaptive Tracker</a:t>
            </a:r>
          </a:p>
          <a:p>
            <a:pPr>
              <a:lnSpc>
                <a:spcPct val="115000"/>
              </a:lnSpc>
              <a:spcBef>
                <a:spcPts val="600"/>
              </a:spcBef>
            </a:pPr>
            <a:r>
              <a:rPr sz="1150">
                <a:solidFill>
                  <a:srgbClr val="C4D2C7"/>
                </a:solidFill>
                <a:latin typeface="Aptos"/>
              </a:rPr>
              <a:t>Recalculates checkpoints when the user misses or exceeds a target so the goal can still be reached.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813"/>
        </a:solidFill>
        <a:effectLst/>
      </p:bgPr>
    </p:bg>
    <p:spTree>
      <p:nvGrpSpPr>
        <p:cNvPr id="1" name=""/>
        <p:cNvGrpSpPr/>
        <p:nvPr/>
      </p:nvGrpSpPr>
      <p:grpSpPr/>
      <p:sp>
        <p:nvSpPr>
          <p:cNvPr id="2" name="TextBox 1"/>
          <p:cNvSpPr txBox="1"/>
          <p:nvPr/>
        </p:nvSpPr>
        <p:spPr>
          <a:xfrm>
            <a:off x="685800" y="502920"/>
            <a:ext cx="4114800" cy="320040"/>
          </a:xfrm>
          <a:prstGeom prst="rect">
            <a:avLst/>
          </a:prstGeom>
          <a:noFill/>
        </p:spPr>
        <p:txBody>
          <a:bodyPr wrap="none">
            <a:spAutoFit/>
          </a:bodyPr>
          <a:lstStyle/>
          <a:p>
            <a:pPr algn="l"/>
            <a:r>
              <a:rPr sz="1000" b="1">
                <a:solidFill>
                  <a:srgbClr val="B8FF76"/>
                </a:solidFill>
                <a:latin typeface="Aptos"/>
              </a:rPr>
              <a:t>05  |  WHAT THE DEMO ALREADY PROVES</a:t>
            </a:r>
          </a:p>
        </p:txBody>
      </p:sp>
      <p:sp>
        <p:nvSpPr>
          <p:cNvPr id="3" name="TextBox 2"/>
          <p:cNvSpPr txBox="1"/>
          <p:nvPr/>
        </p:nvSpPr>
        <p:spPr>
          <a:xfrm>
            <a:off x="685800" y="822960"/>
            <a:ext cx="7223760" cy="1005840"/>
          </a:xfrm>
          <a:prstGeom prst="rect">
            <a:avLst/>
          </a:prstGeom>
          <a:noFill/>
        </p:spPr>
        <p:txBody>
          <a:bodyPr wrap="square">
            <a:spAutoFit/>
          </a:bodyPr>
          <a:lstStyle/>
          <a:p>
            <a:r>
              <a:rPr sz="2800" b="1">
                <a:solidFill>
                  <a:srgbClr val="F4F6F0"/>
                </a:solidFill>
                <a:latin typeface="Aptos Display"/>
              </a:rPr>
              <a:t>Realistic data makes the product story dynamic, not staged.</a:t>
            </a:r>
          </a:p>
        </p:txBody>
      </p:sp>
      <p:sp>
        <p:nvSpPr>
          <p:cNvPr id="4" name="Rounded Rectangle 3"/>
          <p:cNvSpPr/>
          <p:nvPr/>
        </p:nvSpPr>
        <p:spPr>
          <a:xfrm>
            <a:off x="777240" y="1783080"/>
            <a:ext cx="2331720" cy="914400"/>
          </a:xfrm>
          <a:prstGeom prst="roundRect">
            <a:avLst/>
          </a:prstGeom>
          <a:solidFill>
            <a:srgbClr val="182A21"/>
          </a:solidFill>
          <a:ln>
            <a:solidFill>
              <a:srgbClr val="B8FF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5256" y="1911095"/>
            <a:ext cx="2112263" cy="658368"/>
          </a:xfrm>
          <a:prstGeom prst="rect">
            <a:avLst/>
          </a:prstGeom>
          <a:noFill/>
        </p:spPr>
        <p:txBody>
          <a:bodyPr wrap="none">
            <a:spAutoFit/>
          </a:bodyPr>
          <a:lstStyle/>
          <a:p>
            <a:r>
              <a:rPr sz="1000" b="1">
                <a:solidFill>
                  <a:srgbClr val="C4D2C7"/>
                </a:solidFill>
                <a:latin typeface="Aptos"/>
              </a:rPr>
              <a:t>Jan net balance</a:t>
            </a:r>
          </a:p>
          <a:p>
            <a:pPr>
              <a:spcBef>
                <a:spcPts val="200"/>
              </a:spcBef>
            </a:pPr>
            <a:r>
              <a:rPr sz="1800" b="1">
                <a:solidFill>
                  <a:srgbClr val="F4F6F0"/>
                </a:solidFill>
                <a:latin typeface="Aptos Display"/>
              </a:rPr>
              <a:t>Rs 28,937</a:t>
            </a:r>
          </a:p>
        </p:txBody>
      </p:sp>
      <p:sp>
        <p:nvSpPr>
          <p:cNvPr id="6" name="Rounded Rectangle 5"/>
          <p:cNvSpPr/>
          <p:nvPr/>
        </p:nvSpPr>
        <p:spPr>
          <a:xfrm>
            <a:off x="3291840" y="1783080"/>
            <a:ext cx="2331720" cy="914400"/>
          </a:xfrm>
          <a:prstGeom prst="roundRect">
            <a:avLst/>
          </a:prstGeom>
          <a:solidFill>
            <a:srgbClr val="182A21"/>
          </a:solidFill>
          <a:ln>
            <a:solidFill>
              <a:srgbClr val="8D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19856" y="1911095"/>
            <a:ext cx="2112263" cy="658368"/>
          </a:xfrm>
          <a:prstGeom prst="rect">
            <a:avLst/>
          </a:prstGeom>
          <a:noFill/>
        </p:spPr>
        <p:txBody>
          <a:bodyPr wrap="none">
            <a:spAutoFit/>
          </a:bodyPr>
          <a:lstStyle/>
          <a:p>
            <a:r>
              <a:rPr sz="1000" b="1">
                <a:solidFill>
                  <a:srgbClr val="C4D2C7"/>
                </a:solidFill>
                <a:latin typeface="Aptos"/>
              </a:rPr>
              <a:t>Feb net balance</a:t>
            </a:r>
          </a:p>
          <a:p>
            <a:pPr>
              <a:spcBef>
                <a:spcPts val="200"/>
              </a:spcBef>
            </a:pPr>
            <a:r>
              <a:rPr sz="1800" b="1">
                <a:solidFill>
                  <a:srgbClr val="F4F6F0"/>
                </a:solidFill>
                <a:latin typeface="Aptos Display"/>
              </a:rPr>
              <a:t>Rs 25,856</a:t>
            </a:r>
          </a:p>
        </p:txBody>
      </p:sp>
      <p:sp>
        <p:nvSpPr>
          <p:cNvPr id="8" name="Rounded Rectangle 7"/>
          <p:cNvSpPr/>
          <p:nvPr/>
        </p:nvSpPr>
        <p:spPr>
          <a:xfrm>
            <a:off x="5806440" y="1783080"/>
            <a:ext cx="2331720" cy="914400"/>
          </a:xfrm>
          <a:prstGeom prst="roundRect">
            <a:avLst/>
          </a:prstGeom>
          <a:solidFill>
            <a:srgbClr val="182A21"/>
          </a:solidFill>
          <a:ln>
            <a:solidFill>
              <a:srgbClr val="FF8F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34455" y="1911095"/>
            <a:ext cx="2112263" cy="658368"/>
          </a:xfrm>
          <a:prstGeom prst="rect">
            <a:avLst/>
          </a:prstGeom>
          <a:noFill/>
        </p:spPr>
        <p:txBody>
          <a:bodyPr wrap="none">
            <a:spAutoFit/>
          </a:bodyPr>
          <a:lstStyle/>
          <a:p>
            <a:r>
              <a:rPr sz="1000" b="1">
                <a:solidFill>
                  <a:srgbClr val="C4D2C7"/>
                </a:solidFill>
                <a:latin typeface="Aptos"/>
              </a:rPr>
              <a:t>Top cluster</a:t>
            </a:r>
          </a:p>
          <a:p>
            <a:pPr>
              <a:spcBef>
                <a:spcPts val="200"/>
              </a:spcBef>
            </a:pPr>
            <a:r>
              <a:rPr sz="1800" b="1">
                <a:solidFill>
                  <a:srgbClr val="F4F6F0"/>
                </a:solidFill>
                <a:latin typeface="Aptos Display"/>
              </a:rPr>
              <a:t>Food Delivery</a:t>
            </a:r>
          </a:p>
        </p:txBody>
      </p:sp>
      <p:sp>
        <p:nvSpPr>
          <p:cNvPr id="10" name="Rounded Rectangle 9"/>
          <p:cNvSpPr/>
          <p:nvPr/>
        </p:nvSpPr>
        <p:spPr>
          <a:xfrm>
            <a:off x="8321040" y="1783080"/>
            <a:ext cx="2331720" cy="914400"/>
          </a:xfrm>
          <a:prstGeom prst="roundRect">
            <a:avLst/>
          </a:prstGeom>
          <a:solidFill>
            <a:srgbClr val="182A21"/>
          </a:solidFill>
          <a:ln>
            <a:solidFill>
              <a:srgbClr val="F1CC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49056" y="1911095"/>
            <a:ext cx="2112263" cy="658368"/>
          </a:xfrm>
          <a:prstGeom prst="rect">
            <a:avLst/>
          </a:prstGeom>
          <a:noFill/>
        </p:spPr>
        <p:txBody>
          <a:bodyPr wrap="none">
            <a:spAutoFit/>
          </a:bodyPr>
          <a:lstStyle/>
          <a:p>
            <a:r>
              <a:rPr sz="1000" b="1">
                <a:solidFill>
                  <a:srgbClr val="C4D2C7"/>
                </a:solidFill>
                <a:latin typeface="Aptos"/>
              </a:rPr>
              <a:t>Top merchant</a:t>
            </a:r>
          </a:p>
          <a:p>
            <a:pPr>
              <a:spcBef>
                <a:spcPts val="200"/>
              </a:spcBef>
            </a:pPr>
            <a:r>
              <a:rPr sz="1800" b="1">
                <a:solidFill>
                  <a:srgbClr val="F4F6F0"/>
                </a:solidFill>
                <a:latin typeface="Aptos Display"/>
              </a:rPr>
              <a:t>Zomato</a:t>
            </a:r>
          </a:p>
        </p:txBody>
      </p:sp>
      <p:sp>
        <p:nvSpPr>
          <p:cNvPr id="12" name="Rounded Rectangle 11"/>
          <p:cNvSpPr/>
          <p:nvPr/>
        </p:nvSpPr>
        <p:spPr>
          <a:xfrm>
            <a:off x="777240" y="2971800"/>
            <a:ext cx="4892040" cy="2468880"/>
          </a:xfrm>
          <a:prstGeom prst="roundRect">
            <a:avLst/>
          </a:prstGeom>
          <a:solidFill>
            <a:srgbClr val="0F1D16"/>
          </a:solidFill>
          <a:ln>
            <a:solidFill>
              <a:srgbClr val="B8FF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7240" y="2971800"/>
            <a:ext cx="73152" cy="2468880"/>
          </a:xfrm>
          <a:prstGeom prst="roundRect">
            <a:avLst/>
          </a:prstGeom>
          <a:solidFill>
            <a:srgbClr val="B8F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3136392"/>
            <a:ext cx="4617720" cy="2240280"/>
          </a:xfrm>
          <a:prstGeom prst="rect">
            <a:avLst/>
          </a:prstGeom>
          <a:noFill/>
        </p:spPr>
        <p:txBody>
          <a:bodyPr wrap="square">
            <a:spAutoFit/>
          </a:bodyPr>
          <a:lstStyle/>
          <a:p>
            <a:r>
              <a:rPr sz="1600" b="1">
                <a:solidFill>
                  <a:srgbClr val="F4F6F0"/>
                </a:solidFill>
                <a:latin typeface="Aptos Display"/>
              </a:rPr>
              <a:t>Behavior insight</a:t>
            </a:r>
          </a:p>
          <a:p>
            <a:pPr>
              <a:lnSpc>
                <a:spcPct val="115000"/>
              </a:lnSpc>
              <a:spcBef>
                <a:spcPts val="600"/>
              </a:spcBef>
            </a:pPr>
            <a:r>
              <a:rPr sz="1150">
                <a:solidFill>
                  <a:srgbClr val="C4D2C7"/>
                </a:solidFill>
                <a:latin typeface="Aptos"/>
              </a:rPr>
              <a:t>Your spending pressure comes from a mix of fixed commitments (21.2% of debit spend) and discretionary leakage (52.3%), with the largest controllable category being travel.</a:t>
            </a:r>
          </a:p>
        </p:txBody>
      </p:sp>
      <p:sp>
        <p:nvSpPr>
          <p:cNvPr id="15" name="Rounded Rectangle 14"/>
          <p:cNvSpPr/>
          <p:nvPr/>
        </p:nvSpPr>
        <p:spPr>
          <a:xfrm>
            <a:off x="5897880" y="2971800"/>
            <a:ext cx="4754880" cy="2468880"/>
          </a:xfrm>
          <a:prstGeom prst="roundRect">
            <a:avLst/>
          </a:prstGeom>
          <a:solidFill>
            <a:srgbClr val="0F1D16"/>
          </a:solidFill>
          <a:ln>
            <a:solidFill>
              <a:srgbClr val="8D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897880" y="2971800"/>
            <a:ext cx="73152" cy="2468880"/>
          </a:xfrm>
          <a:prstGeom prst="roundRect">
            <a:avLst/>
          </a:prstGeom>
          <a:solidFill>
            <a:srgbClr val="8D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62472" y="3136392"/>
            <a:ext cx="4480560" cy="2240280"/>
          </a:xfrm>
          <a:prstGeom prst="rect">
            <a:avLst/>
          </a:prstGeom>
          <a:noFill/>
        </p:spPr>
        <p:txBody>
          <a:bodyPr wrap="square">
            <a:spAutoFit/>
          </a:bodyPr>
          <a:lstStyle/>
          <a:p>
            <a:r>
              <a:rPr sz="1600" b="1">
                <a:solidFill>
                  <a:srgbClr val="F4F6F0"/>
                </a:solidFill>
                <a:latin typeface="Aptos Display"/>
              </a:rPr>
              <a:t>Why this matters in demo</a:t>
            </a:r>
          </a:p>
          <a:p>
            <a:pPr>
              <a:lnSpc>
                <a:spcPct val="115000"/>
              </a:lnSpc>
              <a:spcBef>
                <a:spcPts val="600"/>
              </a:spcBef>
            </a:pPr>
            <a:r>
              <a:rPr sz="1150">
                <a:solidFill>
                  <a:srgbClr val="C4D2C7"/>
                </a:solidFill>
                <a:latin typeface="Aptos"/>
              </a:rPr>
              <a:t>The deck is backed by 48 natural transaction memories across two positive-balance months. That gives the graphs, comparisons, overspending logic, and goal reasoning enough variation to feel real.</a:t>
            </a:r>
          </a:p>
        </p:txBody>
      </p:sp>
      <p:sp>
        <p:nvSpPr>
          <p:cNvPr id="18" name="Rounded Rectangle 17"/>
          <p:cNvSpPr/>
          <p:nvPr/>
        </p:nvSpPr>
        <p:spPr>
          <a:xfrm>
            <a:off x="8229600" y="3657600"/>
            <a:ext cx="2011680" cy="1417320"/>
          </a:xfrm>
          <a:prstGeom prst="roundRect">
            <a:avLst/>
          </a:prstGeom>
          <a:solidFill>
            <a:srgbClr val="0F1D16"/>
          </a:solidFill>
          <a:ln>
            <a:solidFill>
              <a:srgbClr val="345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6" y="3730752"/>
            <a:ext cx="1828800" cy="228600"/>
          </a:xfrm>
          <a:prstGeom prst="rect">
            <a:avLst/>
          </a:prstGeom>
          <a:noFill/>
        </p:spPr>
        <p:txBody>
          <a:bodyPr wrap="none">
            <a:spAutoFit/>
          </a:bodyPr>
          <a:lstStyle/>
          <a:p>
            <a:r>
              <a:rPr sz="950" b="1">
                <a:solidFill>
                  <a:srgbClr val="C4D2C7"/>
                </a:solidFill>
                <a:latin typeface="Aptos"/>
              </a:rPr>
              <a:t>FEB TOP CATEGORIES</a:t>
            </a:r>
          </a:p>
        </p:txBody>
      </p:sp>
      <p:sp>
        <p:nvSpPr>
          <p:cNvPr id="20" name="TextBox 19"/>
          <p:cNvSpPr txBox="1"/>
          <p:nvPr/>
        </p:nvSpPr>
        <p:spPr>
          <a:xfrm>
            <a:off x="8357616" y="4041648"/>
            <a:ext cx="868680" cy="164592"/>
          </a:xfrm>
          <a:prstGeom prst="rect">
            <a:avLst/>
          </a:prstGeom>
          <a:noFill/>
        </p:spPr>
        <p:txBody>
          <a:bodyPr wrap="none">
            <a:spAutoFit/>
          </a:bodyPr>
          <a:lstStyle/>
          <a:p>
            <a:r>
              <a:rPr sz="850">
                <a:solidFill>
                  <a:srgbClr val="C4D2C7"/>
                </a:solidFill>
                <a:latin typeface="Aptos"/>
              </a:rPr>
              <a:t>Travel</a:t>
            </a:r>
          </a:p>
        </p:txBody>
      </p:sp>
      <p:sp>
        <p:nvSpPr>
          <p:cNvPr id="21" name="Rounded Rectangle 20"/>
          <p:cNvSpPr/>
          <p:nvPr/>
        </p:nvSpPr>
        <p:spPr>
          <a:xfrm>
            <a:off x="9125712" y="4069080"/>
            <a:ext cx="841248" cy="100584"/>
          </a:xfrm>
          <a:prstGeom prst="roundRect">
            <a:avLst/>
          </a:prstGeom>
          <a:solidFill>
            <a:srgbClr val="182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25712" y="4069080"/>
            <a:ext cx="841248" cy="100584"/>
          </a:xfrm>
          <a:prstGeom prst="roundRect">
            <a:avLst/>
          </a:prstGeom>
          <a:solidFill>
            <a:srgbClr val="B8F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57616" y="4297680"/>
            <a:ext cx="868680" cy="164592"/>
          </a:xfrm>
          <a:prstGeom prst="rect">
            <a:avLst/>
          </a:prstGeom>
          <a:noFill/>
        </p:spPr>
        <p:txBody>
          <a:bodyPr wrap="none">
            <a:spAutoFit/>
          </a:bodyPr>
          <a:lstStyle/>
          <a:p>
            <a:r>
              <a:rPr sz="850">
                <a:solidFill>
                  <a:srgbClr val="C4D2C7"/>
                </a:solidFill>
                <a:latin typeface="Aptos"/>
              </a:rPr>
              <a:t>Emi</a:t>
            </a:r>
          </a:p>
        </p:txBody>
      </p:sp>
      <p:sp>
        <p:nvSpPr>
          <p:cNvPr id="24" name="Rounded Rectangle 23"/>
          <p:cNvSpPr/>
          <p:nvPr/>
        </p:nvSpPr>
        <p:spPr>
          <a:xfrm>
            <a:off x="9125712" y="4325112"/>
            <a:ext cx="841248" cy="100584"/>
          </a:xfrm>
          <a:prstGeom prst="roundRect">
            <a:avLst/>
          </a:prstGeom>
          <a:solidFill>
            <a:srgbClr val="182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25712" y="4325112"/>
            <a:ext cx="694210" cy="100584"/>
          </a:xfrm>
          <a:prstGeom prst="roundRect">
            <a:avLst/>
          </a:prstGeom>
          <a:solidFill>
            <a:srgbClr val="8D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57616" y="4553712"/>
            <a:ext cx="868680" cy="164592"/>
          </a:xfrm>
          <a:prstGeom prst="rect">
            <a:avLst/>
          </a:prstGeom>
          <a:noFill/>
        </p:spPr>
        <p:txBody>
          <a:bodyPr wrap="none">
            <a:spAutoFit/>
          </a:bodyPr>
          <a:lstStyle/>
          <a:p>
            <a:r>
              <a:rPr sz="850">
                <a:solidFill>
                  <a:srgbClr val="C4D2C7"/>
                </a:solidFill>
                <a:latin typeface="Aptos"/>
              </a:rPr>
              <a:t>Shopping</a:t>
            </a:r>
          </a:p>
        </p:txBody>
      </p:sp>
      <p:sp>
        <p:nvSpPr>
          <p:cNvPr id="27" name="Rounded Rectangle 26"/>
          <p:cNvSpPr/>
          <p:nvPr/>
        </p:nvSpPr>
        <p:spPr>
          <a:xfrm>
            <a:off x="9125712" y="4581144"/>
            <a:ext cx="841248" cy="100584"/>
          </a:xfrm>
          <a:prstGeom prst="roundRect">
            <a:avLst/>
          </a:prstGeom>
          <a:solidFill>
            <a:srgbClr val="182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125712" y="4581144"/>
            <a:ext cx="668948" cy="100584"/>
          </a:xfrm>
          <a:prstGeom prst="roundRect">
            <a:avLst/>
          </a:prstGeom>
          <a:solidFill>
            <a:srgbClr val="FF8F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57616" y="4809744"/>
            <a:ext cx="868680" cy="164592"/>
          </a:xfrm>
          <a:prstGeom prst="rect">
            <a:avLst/>
          </a:prstGeom>
          <a:noFill/>
        </p:spPr>
        <p:txBody>
          <a:bodyPr wrap="none">
            <a:spAutoFit/>
          </a:bodyPr>
          <a:lstStyle/>
          <a:p>
            <a:r>
              <a:rPr sz="850">
                <a:solidFill>
                  <a:srgbClr val="C4D2C7"/>
                </a:solidFill>
                <a:latin typeface="Aptos"/>
              </a:rPr>
              <a:t>Groceries</a:t>
            </a:r>
          </a:p>
        </p:txBody>
      </p:sp>
      <p:sp>
        <p:nvSpPr>
          <p:cNvPr id="30" name="Rounded Rectangle 29"/>
          <p:cNvSpPr/>
          <p:nvPr/>
        </p:nvSpPr>
        <p:spPr>
          <a:xfrm>
            <a:off x="9125712" y="4837176"/>
            <a:ext cx="841248" cy="100584"/>
          </a:xfrm>
          <a:prstGeom prst="roundRect">
            <a:avLst/>
          </a:prstGeom>
          <a:solidFill>
            <a:srgbClr val="182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125712" y="4837176"/>
            <a:ext cx="568866" cy="100584"/>
          </a:xfrm>
          <a:prstGeom prst="roundRect">
            <a:avLst/>
          </a:prstGeom>
          <a:solidFill>
            <a:srgbClr val="F1C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10D"/>
        </a:solidFill>
        <a:effectLst/>
      </p:bgPr>
    </p:bg>
    <p:spTree>
      <p:nvGrpSpPr>
        <p:cNvPr id="1" name=""/>
        <p:cNvGrpSpPr/>
        <p:nvPr/>
      </p:nvGrpSpPr>
      <p:grpSpPr/>
      <p:sp>
        <p:nvSpPr>
          <p:cNvPr id="2" name="TextBox 1"/>
          <p:cNvSpPr txBox="1"/>
          <p:nvPr/>
        </p:nvSpPr>
        <p:spPr>
          <a:xfrm>
            <a:off x="685800" y="502920"/>
            <a:ext cx="4572000" cy="320040"/>
          </a:xfrm>
          <a:prstGeom prst="rect">
            <a:avLst/>
          </a:prstGeom>
          <a:noFill/>
        </p:spPr>
        <p:txBody>
          <a:bodyPr wrap="none">
            <a:spAutoFit/>
          </a:bodyPr>
          <a:lstStyle/>
          <a:p>
            <a:pPr algn="l"/>
            <a:r>
              <a:rPr sz="1000" b="1">
                <a:solidFill>
                  <a:srgbClr val="B8FF76"/>
                </a:solidFill>
                <a:latin typeface="Aptos"/>
              </a:rPr>
              <a:t>06  |  WHY CATMONEY IS STRONG FOR A HACKATHON</a:t>
            </a:r>
          </a:p>
        </p:txBody>
      </p:sp>
      <p:sp>
        <p:nvSpPr>
          <p:cNvPr id="3" name="TextBox 2"/>
          <p:cNvSpPr txBox="1"/>
          <p:nvPr/>
        </p:nvSpPr>
        <p:spPr>
          <a:xfrm>
            <a:off x="685800" y="822960"/>
            <a:ext cx="7680960" cy="1005840"/>
          </a:xfrm>
          <a:prstGeom prst="rect">
            <a:avLst/>
          </a:prstGeom>
          <a:noFill/>
        </p:spPr>
        <p:txBody>
          <a:bodyPr wrap="square">
            <a:spAutoFit/>
          </a:bodyPr>
          <a:lstStyle/>
          <a:p>
            <a:r>
              <a:rPr sz="2800" b="1">
                <a:solidFill>
                  <a:srgbClr val="F4F6F0"/>
                </a:solidFill>
                <a:latin typeface="Aptos Display"/>
              </a:rPr>
              <a:t>The advantage is not just AI. The advantage is memory-backed reasoning.</a:t>
            </a:r>
          </a:p>
        </p:txBody>
      </p:sp>
      <p:sp>
        <p:nvSpPr>
          <p:cNvPr id="4" name="Rounded Rectangle 3"/>
          <p:cNvSpPr/>
          <p:nvPr/>
        </p:nvSpPr>
        <p:spPr>
          <a:xfrm>
            <a:off x="777240" y="1828800"/>
            <a:ext cx="5120640" cy="4206240"/>
          </a:xfrm>
          <a:prstGeom prst="roundRect">
            <a:avLst/>
          </a:prstGeom>
          <a:solidFill>
            <a:srgbClr val="0F1D16"/>
          </a:solidFill>
          <a:ln>
            <a:solidFill>
              <a:srgbClr val="FF8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057400"/>
            <a:ext cx="2560320" cy="1005840"/>
          </a:xfrm>
          <a:prstGeom prst="rect">
            <a:avLst/>
          </a:prstGeom>
          <a:noFill/>
        </p:spPr>
        <p:txBody>
          <a:bodyPr wrap="square">
            <a:spAutoFit/>
          </a:bodyPr>
          <a:lstStyle/>
          <a:p>
            <a:r>
              <a:rPr sz="2800" b="1">
                <a:solidFill>
                  <a:srgbClr val="F4F6F0"/>
                </a:solidFill>
                <a:latin typeface="Aptos Display"/>
              </a:rPr>
              <a:t>Typical finance app</a:t>
            </a:r>
          </a:p>
        </p:txBody>
      </p:sp>
      <p:sp>
        <p:nvSpPr>
          <p:cNvPr id="6" name="TextBox 5"/>
          <p:cNvSpPr txBox="1"/>
          <p:nvPr/>
        </p:nvSpPr>
        <p:spPr>
          <a:xfrm>
            <a:off x="1005840" y="2651760"/>
            <a:ext cx="4389120" cy="2743200"/>
          </a:xfrm>
          <a:prstGeom prst="rect">
            <a:avLst/>
          </a:prstGeom>
          <a:noFill/>
        </p:spPr>
        <p:txBody>
          <a:bodyPr wrap="square">
            <a:spAutoFit/>
          </a:bodyPr>
          <a:lstStyle/>
          <a:p>
            <a:pPr>
              <a:spcAft>
                <a:spcPts val="1000"/>
              </a:spcAft>
            </a:pPr>
            <a:r>
              <a:rPr sz="1600">
                <a:solidFill>
                  <a:srgbClr val="C4D2C7"/>
                </a:solidFill>
                <a:latin typeface="Aptos"/>
              </a:rPr>
              <a:t>Shows totals, filters, and category charts.</a:t>
            </a:r>
          </a:p>
          <a:p>
            <a:pPr>
              <a:spcAft>
                <a:spcPts val="1000"/>
              </a:spcAft>
            </a:pPr>
            <a:r>
              <a:rPr sz="1600">
                <a:solidFill>
                  <a:srgbClr val="C4D2C7"/>
                </a:solidFill>
                <a:latin typeface="Aptos"/>
              </a:rPr>
              <a:t>Treats transactions as rows, not relationships.</a:t>
            </a:r>
          </a:p>
          <a:p>
            <a:pPr>
              <a:spcAft>
                <a:spcPts val="1000"/>
              </a:spcAft>
            </a:pPr>
            <a:r>
              <a:rPr sz="1600">
                <a:solidFill>
                  <a:srgbClr val="C4D2C7"/>
                </a:solidFill>
                <a:latin typeface="Aptos"/>
              </a:rPr>
              <a:t>Savings plans stay static even after a miss.</a:t>
            </a:r>
          </a:p>
          <a:p>
            <a:pPr>
              <a:spcAft>
                <a:spcPts val="1000"/>
              </a:spcAft>
            </a:pPr>
            <a:r>
              <a:rPr sz="1600">
                <a:solidFill>
                  <a:srgbClr val="C4D2C7"/>
                </a:solidFill>
                <a:latin typeface="Aptos"/>
              </a:rPr>
              <a:t>Chatbots answer from the prompt, not long-term context.</a:t>
            </a:r>
          </a:p>
        </p:txBody>
      </p:sp>
      <p:sp>
        <p:nvSpPr>
          <p:cNvPr id="7" name="Rounded Rectangle 6"/>
          <p:cNvSpPr/>
          <p:nvPr/>
        </p:nvSpPr>
        <p:spPr>
          <a:xfrm>
            <a:off x="6263640" y="1828800"/>
            <a:ext cx="5120640" cy="4206240"/>
          </a:xfrm>
          <a:prstGeom prst="roundRect">
            <a:avLst/>
          </a:prstGeom>
          <a:solidFill>
            <a:srgbClr val="182A21"/>
          </a:solidFill>
          <a:ln>
            <a:solidFill>
              <a:srgbClr val="B8FF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057400"/>
            <a:ext cx="2103120" cy="1005840"/>
          </a:xfrm>
          <a:prstGeom prst="rect">
            <a:avLst/>
          </a:prstGeom>
          <a:noFill/>
        </p:spPr>
        <p:txBody>
          <a:bodyPr wrap="square">
            <a:spAutoFit/>
          </a:bodyPr>
          <a:lstStyle/>
          <a:p>
            <a:r>
              <a:rPr sz="2800" b="1">
                <a:solidFill>
                  <a:srgbClr val="F4F6F0"/>
                </a:solidFill>
                <a:latin typeface="Aptos Display"/>
              </a:rPr>
              <a:t>CatMoney</a:t>
            </a:r>
          </a:p>
        </p:txBody>
      </p:sp>
      <p:sp>
        <p:nvSpPr>
          <p:cNvPr id="9" name="TextBox 8"/>
          <p:cNvSpPr txBox="1"/>
          <p:nvPr/>
        </p:nvSpPr>
        <p:spPr>
          <a:xfrm>
            <a:off x="6492240" y="2651760"/>
            <a:ext cx="4389120" cy="2743200"/>
          </a:xfrm>
          <a:prstGeom prst="rect">
            <a:avLst/>
          </a:prstGeom>
          <a:noFill/>
        </p:spPr>
        <p:txBody>
          <a:bodyPr wrap="square">
            <a:spAutoFit/>
          </a:bodyPr>
          <a:lstStyle/>
          <a:p>
            <a:pPr>
              <a:spcAft>
                <a:spcPts val="1000"/>
              </a:spcAft>
            </a:pPr>
            <a:r>
              <a:rPr sz="1600">
                <a:solidFill>
                  <a:srgbClr val="C4D2C7"/>
                </a:solidFill>
                <a:latin typeface="Aptos"/>
              </a:rPr>
              <a:t>Stores each financial event as linked memory.</a:t>
            </a:r>
          </a:p>
          <a:p>
            <a:pPr>
              <a:spcAft>
                <a:spcPts val="1000"/>
              </a:spcAft>
            </a:pPr>
            <a:r>
              <a:rPr sz="1600">
                <a:solidFill>
                  <a:srgbClr val="C4D2C7"/>
                </a:solidFill>
                <a:latin typeface="Aptos"/>
              </a:rPr>
              <a:t>Explains why overspending happens and what to cut first.</a:t>
            </a:r>
          </a:p>
          <a:p>
            <a:pPr>
              <a:spcAft>
                <a:spcPts val="1000"/>
              </a:spcAft>
            </a:pPr>
            <a:r>
              <a:rPr sz="1600">
                <a:solidFill>
                  <a:srgbClr val="C4D2C7"/>
                </a:solidFill>
                <a:latin typeface="Aptos"/>
              </a:rPr>
              <a:t>Revises checkpoint plans to still reach the end goal.</a:t>
            </a:r>
          </a:p>
          <a:p>
            <a:pPr>
              <a:spcAft>
                <a:spcPts val="1000"/>
              </a:spcAft>
            </a:pPr>
            <a:r>
              <a:rPr sz="1600">
                <a:solidFill>
                  <a:srgbClr val="C4D2C7"/>
                </a:solidFill>
                <a:latin typeface="Aptos"/>
              </a:rPr>
              <a:t>Uses Mem-Brain search, graph operations, and memory linking visibly in the UI.</a:t>
            </a:r>
          </a:p>
        </p:txBody>
      </p:sp>
      <p:sp>
        <p:nvSpPr>
          <p:cNvPr id="10" name="TextBox 9"/>
          <p:cNvSpPr txBox="1"/>
          <p:nvPr/>
        </p:nvSpPr>
        <p:spPr>
          <a:xfrm>
            <a:off x="6492240" y="5440680"/>
            <a:ext cx="4297680" cy="411480"/>
          </a:xfrm>
          <a:prstGeom prst="rect">
            <a:avLst/>
          </a:prstGeom>
          <a:noFill/>
        </p:spPr>
        <p:txBody>
          <a:bodyPr wrap="square">
            <a:spAutoFit/>
          </a:bodyPr>
          <a:lstStyle/>
          <a:p>
            <a:r>
              <a:rPr sz="1100">
                <a:solidFill>
                  <a:srgbClr val="C4D2C7"/>
                </a:solidFill>
                <a:latin typeface="Aptos"/>
              </a:rPr>
              <a:t>Current strongest behavioral signal: 52.3% of debit spend is discretionary, led by travel.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813"/>
        </a:solidFill>
        <a:effectLst/>
      </p:bgPr>
    </p:bg>
    <p:spTree>
      <p:nvGrpSpPr>
        <p:cNvPr id="1" name=""/>
        <p:cNvGrpSpPr/>
        <p:nvPr/>
      </p:nvGrpSpPr>
      <p:grpSpPr/>
      <p:sp>
        <p:nvSpPr>
          <p:cNvPr id="2" name="TextBox 1"/>
          <p:cNvSpPr txBox="1"/>
          <p:nvPr/>
        </p:nvSpPr>
        <p:spPr>
          <a:xfrm>
            <a:off x="685800" y="502920"/>
            <a:ext cx="3474720" cy="320040"/>
          </a:xfrm>
          <a:prstGeom prst="rect">
            <a:avLst/>
          </a:prstGeom>
          <a:noFill/>
        </p:spPr>
        <p:txBody>
          <a:bodyPr wrap="none">
            <a:spAutoFit/>
          </a:bodyPr>
          <a:lstStyle/>
          <a:p>
            <a:pPr algn="l"/>
            <a:r>
              <a:rPr sz="1000" b="1">
                <a:solidFill>
                  <a:srgbClr val="B8FF76"/>
                </a:solidFill>
                <a:latin typeface="Aptos"/>
              </a:rPr>
              <a:t>07  |  PRESENTATION FLOW</a:t>
            </a:r>
          </a:p>
        </p:txBody>
      </p:sp>
      <p:sp>
        <p:nvSpPr>
          <p:cNvPr id="3" name="TextBox 2"/>
          <p:cNvSpPr txBox="1"/>
          <p:nvPr/>
        </p:nvSpPr>
        <p:spPr>
          <a:xfrm>
            <a:off x="685800" y="822960"/>
            <a:ext cx="5669280" cy="1005840"/>
          </a:xfrm>
          <a:prstGeom prst="rect">
            <a:avLst/>
          </a:prstGeom>
          <a:noFill/>
        </p:spPr>
        <p:txBody>
          <a:bodyPr wrap="square">
            <a:spAutoFit/>
          </a:bodyPr>
          <a:lstStyle/>
          <a:p>
            <a:r>
              <a:rPr sz="2800" b="1">
                <a:solidFill>
                  <a:srgbClr val="F4F6F0"/>
                </a:solidFill>
                <a:latin typeface="Aptos Display"/>
              </a:rPr>
              <a:t>A clean 2-minute demo story for judges</a:t>
            </a:r>
          </a:p>
        </p:txBody>
      </p:sp>
      <p:sp>
        <p:nvSpPr>
          <p:cNvPr id="4" name="TextBox 3"/>
          <p:cNvSpPr txBox="1"/>
          <p:nvPr/>
        </p:nvSpPr>
        <p:spPr>
          <a:xfrm>
            <a:off x="868680" y="1828800"/>
            <a:ext cx="5577840" cy="4297680"/>
          </a:xfrm>
          <a:prstGeom prst="rect">
            <a:avLst/>
          </a:prstGeom>
          <a:noFill/>
        </p:spPr>
        <p:txBody>
          <a:bodyPr wrap="square">
            <a:spAutoFit/>
          </a:bodyPr>
          <a:lstStyle/>
          <a:p>
            <a:pPr>
              <a:spcAft>
                <a:spcPts val="1000"/>
              </a:spcAft>
            </a:pPr>
            <a:r>
              <a:rPr sz="1700">
                <a:solidFill>
                  <a:srgbClr val="C4D2C7"/>
                </a:solidFill>
                <a:latin typeface="Aptos"/>
              </a:rPr>
              <a:t>Start with the problem: current apps track money, but they do not remember financial behavior.</a:t>
            </a:r>
          </a:p>
          <a:p>
            <a:pPr>
              <a:spcAft>
                <a:spcPts val="1000"/>
              </a:spcAft>
            </a:pPr>
            <a:r>
              <a:rPr sz="1700">
                <a:solidFill>
                  <a:srgbClr val="C4D2C7"/>
                </a:solidFill>
                <a:latin typeface="Aptos"/>
              </a:rPr>
              <a:t>Open the Memory Graph to show that transactions, merchants, categories, and goals are linked memories.</a:t>
            </a:r>
          </a:p>
          <a:p>
            <a:pPr>
              <a:spcAft>
                <a:spcPts val="1000"/>
              </a:spcAft>
            </a:pPr>
            <a:r>
              <a:rPr sz="1700">
                <a:solidFill>
                  <a:srgbClr val="C4D2C7"/>
                </a:solidFill>
                <a:latin typeface="Aptos"/>
              </a:rPr>
              <a:t>Use the Overspending tab to explain why spending pressure happens in plain language.</a:t>
            </a:r>
          </a:p>
          <a:p>
            <a:pPr>
              <a:spcAft>
                <a:spcPts val="1000"/>
              </a:spcAft>
            </a:pPr>
            <a:r>
              <a:rPr sz="1700">
                <a:solidFill>
                  <a:srgbClr val="C4D2C7"/>
                </a:solidFill>
                <a:latin typeface="Aptos"/>
              </a:rPr>
              <a:t>Use Goal Reasoning and the adaptive tracker to show how missed checkpoints are recalculated.</a:t>
            </a:r>
          </a:p>
          <a:p>
            <a:pPr>
              <a:spcAft>
                <a:spcPts val="1000"/>
              </a:spcAft>
            </a:pPr>
            <a:r>
              <a:rPr sz="1700">
                <a:solidFill>
                  <a:srgbClr val="C4D2C7"/>
                </a:solidFill>
                <a:latin typeface="Aptos"/>
              </a:rPr>
              <a:t>Close with reliability: even when upstream AI is rate-limited, CatMoney still answers from stored memory.</a:t>
            </a:r>
          </a:p>
        </p:txBody>
      </p:sp>
      <p:sp>
        <p:nvSpPr>
          <p:cNvPr id="5" name="Rounded Rectangle 4"/>
          <p:cNvSpPr/>
          <p:nvPr/>
        </p:nvSpPr>
        <p:spPr>
          <a:xfrm>
            <a:off x="6720840" y="1554480"/>
            <a:ext cx="4572000" cy="4480560"/>
          </a:xfrm>
          <a:prstGeom prst="roundRect">
            <a:avLst/>
          </a:prstGeom>
          <a:solidFill>
            <a:srgbClr val="F2F7F0"/>
          </a:solidFill>
          <a:ln>
            <a:solidFill>
              <a:srgbClr val="59A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0" y="1828800"/>
            <a:ext cx="3840480" cy="3840480"/>
          </a:xfrm>
          <a:prstGeom prst="rect">
            <a:avLst/>
          </a:prstGeom>
          <a:noFill/>
        </p:spPr>
        <p:txBody>
          <a:bodyPr wrap="none">
            <a:spAutoFit/>
          </a:bodyPr>
          <a:lstStyle/>
          <a:p>
            <a:r>
              <a:rPr sz="2200" b="1">
                <a:solidFill>
                  <a:srgbClr val="133325"/>
                </a:solidFill>
                <a:latin typeface="Aptos Display"/>
              </a:rPr>
              <a:t>Final message to judges</a:t>
            </a:r>
          </a:p>
          <a:p>
            <a:pPr>
              <a:lnSpc>
                <a:spcPct val="125000"/>
              </a:lnSpc>
              <a:spcBef>
                <a:spcPts val="1200"/>
              </a:spcBef>
            </a:pPr>
            <a:r>
              <a:rPr sz="1500">
                <a:solidFill>
                  <a:srgbClr val="133325"/>
                </a:solidFill>
                <a:latin typeface="Aptos"/>
              </a:rPr>
              <a:t>CatMoney is not another budgeting dashboard.
It is a memory-driven finance assistant that uses Mem-Brain to connect spending, patterns, goals, and decisions in one coherent product.</a:t>
            </a:r>
          </a:p>
          <a:p>
            <a:pPr>
              <a:spcBef>
                <a:spcPts val="1200"/>
              </a:spcBef>
            </a:pPr>
            <a:r>
              <a:rPr sz="1500" b="1">
                <a:solidFill>
                  <a:srgbClr val="59A04C"/>
                </a:solidFill>
                <a:latin typeface="Consolas"/>
              </a:rPr>
              <a:t>That is the story to land.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